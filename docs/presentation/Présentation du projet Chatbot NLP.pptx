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T Chocolates" charset="1" panose="02000503020000020003"/>
      <p:regular r:id="rId17"/>
    </p:embeddedFont>
    <p:embeddedFont>
      <p:font typeface="Museo Moderno Bold" charset="1" panose="00000000000000000000"/>
      <p:regular r:id="rId18"/>
    </p:embeddedFont>
    <p:embeddedFont>
      <p:font typeface="TT Chocolates Bold" charset="1" panose="020008030200000200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16" Target="../media/image23.png" Type="http://schemas.openxmlformats.org/officeDocument/2006/relationships/image"/><Relationship Id="rId17" Target="../media/image24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svg" Type="http://schemas.openxmlformats.org/officeDocument/2006/relationships/image"/><Relationship Id="rId12" Target="../media/image45.png" Type="http://schemas.openxmlformats.org/officeDocument/2006/relationships/image"/><Relationship Id="rId13" Target="../media/image46.svg" Type="http://schemas.openxmlformats.org/officeDocument/2006/relationships/image"/><Relationship Id="rId14" Target="../media/image47.png" Type="http://schemas.openxmlformats.org/officeDocument/2006/relationships/image"/><Relationship Id="rId15" Target="../media/image48.svg" Type="http://schemas.openxmlformats.org/officeDocument/2006/relationships/image"/><Relationship Id="rId16" Target="../media/image5.png" Type="http://schemas.openxmlformats.org/officeDocument/2006/relationships/image"/><Relationship Id="rId17" Target="../media/image6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2" Target="../media/image49.png" Type="http://schemas.openxmlformats.org/officeDocument/2006/relationships/image"/><Relationship Id="rId3" Target="../media/image50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49.png" Type="http://schemas.openxmlformats.org/officeDocument/2006/relationships/image"/><Relationship Id="rId9" Target="../media/image5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49.png" Type="http://schemas.openxmlformats.org/officeDocument/2006/relationships/image"/><Relationship Id="rId9" Target="../media/image5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54.png" Type="http://schemas.openxmlformats.org/officeDocument/2006/relationships/image"/><Relationship Id="rId9" Target="../media/image5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12" Target="../media/image7.png" Type="http://schemas.openxmlformats.org/officeDocument/2006/relationships/image"/><Relationship Id="rId13" Target="../media/image8.png" Type="http://schemas.openxmlformats.org/officeDocument/2006/relationships/image"/><Relationship Id="rId2" Target="../media/image56.png" Type="http://schemas.openxmlformats.org/officeDocument/2006/relationships/image"/><Relationship Id="rId3" Target="../media/image57.svg" Type="http://schemas.openxmlformats.org/officeDocument/2006/relationships/image"/><Relationship Id="rId4" Target="../media/image58.png" Type="http://schemas.openxmlformats.org/officeDocument/2006/relationships/image"/><Relationship Id="rId5" Target="../media/image59.svg" Type="http://schemas.openxmlformats.org/officeDocument/2006/relationships/image"/><Relationship Id="rId6" Target="../media/image60.png" Type="http://schemas.openxmlformats.org/officeDocument/2006/relationships/image"/><Relationship Id="rId7" Target="../media/image61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1038925" y="2981140"/>
            <a:ext cx="5426281" cy="542628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715C4">
                    <a:alpha val="100000"/>
                  </a:srgbClr>
                </a:gs>
                <a:gs pos="100000">
                  <a:srgbClr val="1531C3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9050" cap="sq">
              <a:solidFill>
                <a:srgbClr val="1B0A6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19765" lIns="19765" bIns="19765" rIns="19765"/>
            <a:lstStyle/>
            <a:p>
              <a:pPr algn="ctr">
                <a:lnSpc>
                  <a:spcPts val="76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046142" y="1847156"/>
            <a:ext cx="9050587" cy="9050587"/>
            <a:chOff x="0" y="0"/>
            <a:chExt cx="5588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gradFill rotWithShape="true">
              <a:gsLst>
                <a:gs pos="0">
                  <a:srgbClr val="6715C4">
                    <a:alpha val="100000"/>
                  </a:srgbClr>
                </a:gs>
                <a:gs pos="100000">
                  <a:srgbClr val="1531C3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9050" cap="sq">
              <a:solidFill>
                <a:srgbClr val="1B0A6B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65100" y="155575"/>
              <a:ext cx="393700" cy="403225"/>
            </a:xfrm>
            <a:prstGeom prst="rect">
              <a:avLst/>
            </a:prstGeom>
          </p:spPr>
          <p:txBody>
            <a:bodyPr anchor="ctr" rtlCol="false" tIns="19765" lIns="19765" bIns="19765" rIns="19765"/>
            <a:lstStyle/>
            <a:p>
              <a:pPr algn="ctr">
                <a:lnSpc>
                  <a:spcPts val="76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6504019"/>
            <a:ext cx="7297544" cy="775597"/>
            <a:chOff x="0" y="0"/>
            <a:chExt cx="3115960" cy="3311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15960" cy="331170"/>
            </a:xfrm>
            <a:custGeom>
              <a:avLst/>
              <a:gdLst/>
              <a:ahLst/>
              <a:cxnLst/>
              <a:rect r="r" b="b" t="t" l="l"/>
              <a:pathLst>
                <a:path h="331170" w="3115960">
                  <a:moveTo>
                    <a:pt x="8752" y="0"/>
                  </a:moveTo>
                  <a:lnTo>
                    <a:pt x="2845802" y="0"/>
                  </a:lnTo>
                  <a:cubicBezTo>
                    <a:pt x="3021029" y="0"/>
                    <a:pt x="3115960" y="74135"/>
                    <a:pt x="3115960" y="165585"/>
                  </a:cubicBezTo>
                  <a:cubicBezTo>
                    <a:pt x="3115960" y="257035"/>
                    <a:pt x="3021029" y="331170"/>
                    <a:pt x="2845802" y="331170"/>
                  </a:cubicBezTo>
                  <a:lnTo>
                    <a:pt x="8752" y="331170"/>
                  </a:lnTo>
                  <a:cubicBezTo>
                    <a:pt x="6431" y="331170"/>
                    <a:pt x="4205" y="330248"/>
                    <a:pt x="2564" y="328607"/>
                  </a:cubicBezTo>
                  <a:cubicBezTo>
                    <a:pt x="922" y="326965"/>
                    <a:pt x="0" y="324739"/>
                    <a:pt x="0" y="322418"/>
                  </a:cubicBezTo>
                  <a:lnTo>
                    <a:pt x="0" y="8752"/>
                  </a:lnTo>
                  <a:cubicBezTo>
                    <a:pt x="0" y="3919"/>
                    <a:pt x="3919" y="0"/>
                    <a:pt x="8752" y="0"/>
                  </a:cubicBezTo>
                  <a:close/>
                </a:path>
              </a:pathLst>
            </a:custGeom>
            <a:solidFill>
              <a:srgbClr val="1B0A6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25400" y="-19050"/>
              <a:ext cx="2887360" cy="350220"/>
            </a:xfrm>
            <a:prstGeom prst="rect">
              <a:avLst/>
            </a:prstGeom>
          </p:spPr>
          <p:txBody>
            <a:bodyPr anchor="ctr" rtlCol="false" tIns="41847" lIns="41847" bIns="41847" rIns="41847"/>
            <a:lstStyle/>
            <a:p>
              <a:pPr algn="ctr">
                <a:lnSpc>
                  <a:spcPts val="1614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1679671" y="3186909"/>
            <a:ext cx="5485851" cy="6260601"/>
          </a:xfrm>
          <a:custGeom>
            <a:avLst/>
            <a:gdLst/>
            <a:ahLst/>
            <a:cxnLst/>
            <a:rect r="r" b="b" t="t" l="l"/>
            <a:pathLst>
              <a:path h="6260601" w="5485851">
                <a:moveTo>
                  <a:pt x="5485852" y="0"/>
                </a:moveTo>
                <a:lnTo>
                  <a:pt x="0" y="0"/>
                </a:lnTo>
                <a:lnTo>
                  <a:pt x="0" y="6260601"/>
                </a:lnTo>
                <a:lnTo>
                  <a:pt x="5485852" y="6260601"/>
                </a:lnTo>
                <a:lnTo>
                  <a:pt x="54858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602602" y="8085736"/>
            <a:ext cx="852195" cy="852195"/>
          </a:xfrm>
          <a:custGeom>
            <a:avLst/>
            <a:gdLst/>
            <a:ahLst/>
            <a:cxnLst/>
            <a:rect r="r" b="b" t="t" l="l"/>
            <a:pathLst>
              <a:path h="852195" w="852195">
                <a:moveTo>
                  <a:pt x="0" y="0"/>
                </a:moveTo>
                <a:lnTo>
                  <a:pt x="852196" y="0"/>
                </a:lnTo>
                <a:lnTo>
                  <a:pt x="852196" y="852196"/>
                </a:lnTo>
                <a:lnTo>
                  <a:pt x="0" y="8521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219756" y="2742068"/>
            <a:ext cx="515518" cy="515518"/>
          </a:xfrm>
          <a:custGeom>
            <a:avLst/>
            <a:gdLst/>
            <a:ahLst/>
            <a:cxnLst/>
            <a:rect r="r" b="b" t="t" l="l"/>
            <a:pathLst>
              <a:path h="515518" w="515518">
                <a:moveTo>
                  <a:pt x="0" y="0"/>
                </a:moveTo>
                <a:lnTo>
                  <a:pt x="515517" y="0"/>
                </a:lnTo>
                <a:lnTo>
                  <a:pt x="515517" y="515517"/>
                </a:lnTo>
                <a:lnTo>
                  <a:pt x="0" y="5155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360611" y="-927389"/>
            <a:ext cx="1854778" cy="1854778"/>
          </a:xfrm>
          <a:custGeom>
            <a:avLst/>
            <a:gdLst/>
            <a:ahLst/>
            <a:cxnLst/>
            <a:rect r="r" b="b" t="t" l="l"/>
            <a:pathLst>
              <a:path h="1854778" w="1854778">
                <a:moveTo>
                  <a:pt x="0" y="0"/>
                </a:moveTo>
                <a:lnTo>
                  <a:pt x="1854778" y="0"/>
                </a:lnTo>
                <a:lnTo>
                  <a:pt x="1854778" y="1854778"/>
                </a:lnTo>
                <a:lnTo>
                  <a:pt x="0" y="18547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747635" y="9258300"/>
            <a:ext cx="1854778" cy="1854778"/>
          </a:xfrm>
          <a:custGeom>
            <a:avLst/>
            <a:gdLst/>
            <a:ahLst/>
            <a:cxnLst/>
            <a:rect r="r" b="b" t="t" l="l"/>
            <a:pathLst>
              <a:path h="1854778" w="1854778">
                <a:moveTo>
                  <a:pt x="0" y="0"/>
                </a:moveTo>
                <a:lnTo>
                  <a:pt x="1854778" y="0"/>
                </a:lnTo>
                <a:lnTo>
                  <a:pt x="1854778" y="1854778"/>
                </a:lnTo>
                <a:lnTo>
                  <a:pt x="0" y="18547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78104" y="6587018"/>
            <a:ext cx="661535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pc="-126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Réalisation : BENCHINE Abdelilah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2689347"/>
            <a:ext cx="10246201" cy="2540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00"/>
              </a:lnSpc>
              <a:spcBef>
                <a:spcPct val="0"/>
              </a:spcBef>
            </a:pPr>
            <a:r>
              <a:rPr lang="en-US" b="true" sz="8000" spc="-496">
                <a:solidFill>
                  <a:srgbClr val="1B0A6B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Chatbot sémantique intelligent pour le domaine de la santé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5456155"/>
            <a:ext cx="9774066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b="true" sz="6000" spc="-372">
                <a:solidFill>
                  <a:srgbClr val="E64B1A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Basé</a:t>
            </a:r>
            <a:r>
              <a:rPr lang="en-US" b="true" sz="6000" spc="-372">
                <a:solidFill>
                  <a:srgbClr val="E64B1A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 RDF, OWL et SPARQL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28700" y="7489166"/>
            <a:ext cx="8316775" cy="721848"/>
            <a:chOff x="0" y="0"/>
            <a:chExt cx="3551159" cy="3082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551159" cy="308220"/>
            </a:xfrm>
            <a:custGeom>
              <a:avLst/>
              <a:gdLst/>
              <a:ahLst/>
              <a:cxnLst/>
              <a:rect r="r" b="b" t="t" l="l"/>
              <a:pathLst>
                <a:path h="308220" w="3551159">
                  <a:moveTo>
                    <a:pt x="7680" y="0"/>
                  </a:moveTo>
                  <a:lnTo>
                    <a:pt x="3270909" y="0"/>
                  </a:lnTo>
                  <a:cubicBezTo>
                    <a:pt x="3456228" y="0"/>
                    <a:pt x="3551159" y="68997"/>
                    <a:pt x="3551159" y="154110"/>
                  </a:cubicBezTo>
                  <a:cubicBezTo>
                    <a:pt x="3551159" y="239223"/>
                    <a:pt x="3456228" y="308220"/>
                    <a:pt x="3270909" y="308220"/>
                  </a:cubicBezTo>
                  <a:lnTo>
                    <a:pt x="7680" y="308220"/>
                  </a:lnTo>
                  <a:cubicBezTo>
                    <a:pt x="3438" y="308220"/>
                    <a:pt x="0" y="304782"/>
                    <a:pt x="0" y="300540"/>
                  </a:cubicBezTo>
                  <a:lnTo>
                    <a:pt x="0" y="7680"/>
                  </a:lnTo>
                  <a:cubicBezTo>
                    <a:pt x="0" y="3438"/>
                    <a:pt x="3438" y="0"/>
                    <a:pt x="7680" y="0"/>
                  </a:cubicBezTo>
                  <a:close/>
                </a:path>
              </a:pathLst>
            </a:custGeom>
            <a:solidFill>
              <a:srgbClr val="1B0A6B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25400" y="-19050"/>
              <a:ext cx="3322559" cy="327270"/>
            </a:xfrm>
            <a:prstGeom prst="rect">
              <a:avLst/>
            </a:prstGeom>
          </p:spPr>
          <p:txBody>
            <a:bodyPr anchor="ctr" rtlCol="false" tIns="41847" lIns="41847" bIns="41847" rIns="41847"/>
            <a:lstStyle/>
            <a:p>
              <a:pPr algn="ctr">
                <a:lnSpc>
                  <a:spcPts val="1614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78104" y="7545291"/>
            <a:ext cx="732430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pc="-126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Encadrement : Mr. AMECHNOUE Khalid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792455" y="619648"/>
            <a:ext cx="2877751" cy="1431524"/>
          </a:xfrm>
          <a:custGeom>
            <a:avLst/>
            <a:gdLst/>
            <a:ahLst/>
            <a:cxnLst/>
            <a:rect r="r" b="b" t="t" l="l"/>
            <a:pathLst>
              <a:path h="1431524" w="2877751">
                <a:moveTo>
                  <a:pt x="0" y="0"/>
                </a:moveTo>
                <a:lnTo>
                  <a:pt x="2877751" y="0"/>
                </a:lnTo>
                <a:lnTo>
                  <a:pt x="2877751" y="1431524"/>
                </a:lnTo>
                <a:lnTo>
                  <a:pt x="0" y="14315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42572" r="0" b="-58454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571435" y="384630"/>
            <a:ext cx="1901560" cy="1901560"/>
          </a:xfrm>
          <a:custGeom>
            <a:avLst/>
            <a:gdLst/>
            <a:ahLst/>
            <a:cxnLst/>
            <a:rect r="r" b="b" t="t" l="l"/>
            <a:pathLst>
              <a:path h="1901560" w="1901560">
                <a:moveTo>
                  <a:pt x="0" y="0"/>
                </a:moveTo>
                <a:lnTo>
                  <a:pt x="1901560" y="0"/>
                </a:lnTo>
                <a:lnTo>
                  <a:pt x="1901560" y="1901560"/>
                </a:lnTo>
                <a:lnTo>
                  <a:pt x="0" y="19015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8312" y="3092500"/>
            <a:ext cx="6868497" cy="1346521"/>
            <a:chOff x="0" y="0"/>
            <a:chExt cx="1808987" cy="3546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08987" cy="354639"/>
            </a:xfrm>
            <a:custGeom>
              <a:avLst/>
              <a:gdLst/>
              <a:ahLst/>
              <a:cxnLst/>
              <a:rect r="r" b="b" t="t" l="l"/>
              <a:pathLst>
                <a:path h="354639" w="1808987">
                  <a:moveTo>
                    <a:pt x="112716" y="0"/>
                  </a:moveTo>
                  <a:lnTo>
                    <a:pt x="1696270" y="0"/>
                  </a:lnTo>
                  <a:cubicBezTo>
                    <a:pt x="1726165" y="0"/>
                    <a:pt x="1754835" y="11875"/>
                    <a:pt x="1775973" y="33014"/>
                  </a:cubicBezTo>
                  <a:cubicBezTo>
                    <a:pt x="1797111" y="54152"/>
                    <a:pt x="1808987" y="82822"/>
                    <a:pt x="1808987" y="112716"/>
                  </a:cubicBezTo>
                  <a:lnTo>
                    <a:pt x="1808987" y="241923"/>
                  </a:lnTo>
                  <a:cubicBezTo>
                    <a:pt x="1808987" y="271817"/>
                    <a:pt x="1797111" y="300487"/>
                    <a:pt x="1775973" y="321625"/>
                  </a:cubicBezTo>
                  <a:cubicBezTo>
                    <a:pt x="1754835" y="342764"/>
                    <a:pt x="1726165" y="354639"/>
                    <a:pt x="1696270" y="354639"/>
                  </a:cubicBezTo>
                  <a:lnTo>
                    <a:pt x="112716" y="354639"/>
                  </a:lnTo>
                  <a:cubicBezTo>
                    <a:pt x="82822" y="354639"/>
                    <a:pt x="54152" y="342764"/>
                    <a:pt x="33014" y="321625"/>
                  </a:cubicBezTo>
                  <a:cubicBezTo>
                    <a:pt x="11875" y="300487"/>
                    <a:pt x="0" y="271817"/>
                    <a:pt x="0" y="241923"/>
                  </a:cubicBezTo>
                  <a:lnTo>
                    <a:pt x="0" y="112716"/>
                  </a:lnTo>
                  <a:cubicBezTo>
                    <a:pt x="0" y="82822"/>
                    <a:pt x="11875" y="54152"/>
                    <a:pt x="33014" y="33014"/>
                  </a:cubicBezTo>
                  <a:cubicBezTo>
                    <a:pt x="54152" y="11875"/>
                    <a:pt x="82822" y="0"/>
                    <a:pt x="11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715C4">
                    <a:alpha val="100000"/>
                  </a:srgbClr>
                </a:gs>
                <a:gs pos="100000">
                  <a:srgbClr val="1531C3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9050" cap="rnd">
              <a:solidFill>
                <a:srgbClr val="1B0A6B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808987" cy="3546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709617" y="-774842"/>
            <a:ext cx="1549683" cy="1549683"/>
          </a:xfrm>
          <a:custGeom>
            <a:avLst/>
            <a:gdLst/>
            <a:ahLst/>
            <a:cxnLst/>
            <a:rect r="r" b="b" t="t" l="l"/>
            <a:pathLst>
              <a:path h="1549683" w="1549683">
                <a:moveTo>
                  <a:pt x="0" y="0"/>
                </a:moveTo>
                <a:lnTo>
                  <a:pt x="1549683" y="0"/>
                </a:lnTo>
                <a:lnTo>
                  <a:pt x="1549683" y="1549684"/>
                </a:lnTo>
                <a:lnTo>
                  <a:pt x="0" y="1549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0216" y="9512158"/>
            <a:ext cx="1549683" cy="1549683"/>
          </a:xfrm>
          <a:custGeom>
            <a:avLst/>
            <a:gdLst/>
            <a:ahLst/>
            <a:cxnLst/>
            <a:rect r="r" b="b" t="t" l="l"/>
            <a:pathLst>
              <a:path h="1549683" w="1549683">
                <a:moveTo>
                  <a:pt x="0" y="0"/>
                </a:moveTo>
                <a:lnTo>
                  <a:pt x="1549684" y="0"/>
                </a:lnTo>
                <a:lnTo>
                  <a:pt x="1549684" y="1549684"/>
                </a:lnTo>
                <a:lnTo>
                  <a:pt x="0" y="15496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-428439" y="820270"/>
            <a:ext cx="856878" cy="1273738"/>
          </a:xfrm>
          <a:custGeom>
            <a:avLst/>
            <a:gdLst/>
            <a:ahLst/>
            <a:cxnLst/>
            <a:rect r="r" b="b" t="t" l="l"/>
            <a:pathLst>
              <a:path h="1273738" w="856878">
                <a:moveTo>
                  <a:pt x="0" y="0"/>
                </a:moveTo>
                <a:lnTo>
                  <a:pt x="856878" y="0"/>
                </a:lnTo>
                <a:lnTo>
                  <a:pt x="856878" y="1273738"/>
                </a:lnTo>
                <a:lnTo>
                  <a:pt x="0" y="1273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17859561" y="8192992"/>
            <a:ext cx="856878" cy="1273738"/>
          </a:xfrm>
          <a:custGeom>
            <a:avLst/>
            <a:gdLst/>
            <a:ahLst/>
            <a:cxnLst/>
            <a:rect r="r" b="b" t="t" l="l"/>
            <a:pathLst>
              <a:path h="1273738" w="856878">
                <a:moveTo>
                  <a:pt x="0" y="0"/>
                </a:moveTo>
                <a:lnTo>
                  <a:pt x="856878" y="0"/>
                </a:lnTo>
                <a:lnTo>
                  <a:pt x="856878" y="1273738"/>
                </a:lnTo>
                <a:lnTo>
                  <a:pt x="0" y="1273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888792" y="3092500"/>
            <a:ext cx="6868497" cy="1346521"/>
            <a:chOff x="0" y="0"/>
            <a:chExt cx="1808987" cy="35463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08987" cy="354639"/>
            </a:xfrm>
            <a:custGeom>
              <a:avLst/>
              <a:gdLst/>
              <a:ahLst/>
              <a:cxnLst/>
              <a:rect r="r" b="b" t="t" l="l"/>
              <a:pathLst>
                <a:path h="354639" w="1808987">
                  <a:moveTo>
                    <a:pt x="112716" y="0"/>
                  </a:moveTo>
                  <a:lnTo>
                    <a:pt x="1696270" y="0"/>
                  </a:lnTo>
                  <a:cubicBezTo>
                    <a:pt x="1726165" y="0"/>
                    <a:pt x="1754835" y="11875"/>
                    <a:pt x="1775973" y="33014"/>
                  </a:cubicBezTo>
                  <a:cubicBezTo>
                    <a:pt x="1797111" y="54152"/>
                    <a:pt x="1808987" y="82822"/>
                    <a:pt x="1808987" y="112716"/>
                  </a:cubicBezTo>
                  <a:lnTo>
                    <a:pt x="1808987" y="241923"/>
                  </a:lnTo>
                  <a:cubicBezTo>
                    <a:pt x="1808987" y="271817"/>
                    <a:pt x="1797111" y="300487"/>
                    <a:pt x="1775973" y="321625"/>
                  </a:cubicBezTo>
                  <a:cubicBezTo>
                    <a:pt x="1754835" y="342764"/>
                    <a:pt x="1726165" y="354639"/>
                    <a:pt x="1696270" y="354639"/>
                  </a:cubicBezTo>
                  <a:lnTo>
                    <a:pt x="112716" y="354639"/>
                  </a:lnTo>
                  <a:cubicBezTo>
                    <a:pt x="82822" y="354639"/>
                    <a:pt x="54152" y="342764"/>
                    <a:pt x="33014" y="321625"/>
                  </a:cubicBezTo>
                  <a:cubicBezTo>
                    <a:pt x="11875" y="300487"/>
                    <a:pt x="0" y="271817"/>
                    <a:pt x="0" y="241923"/>
                  </a:cubicBezTo>
                  <a:lnTo>
                    <a:pt x="0" y="112716"/>
                  </a:lnTo>
                  <a:cubicBezTo>
                    <a:pt x="0" y="82822"/>
                    <a:pt x="11875" y="54152"/>
                    <a:pt x="33014" y="33014"/>
                  </a:cubicBezTo>
                  <a:cubicBezTo>
                    <a:pt x="54152" y="11875"/>
                    <a:pt x="82822" y="0"/>
                    <a:pt x="11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715C4">
                    <a:alpha val="100000"/>
                  </a:srgbClr>
                </a:gs>
                <a:gs pos="100000">
                  <a:srgbClr val="1531C3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9050" cap="rnd">
              <a:solidFill>
                <a:srgbClr val="1B0A6B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808987" cy="3546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2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48312" y="5289094"/>
            <a:ext cx="6868497" cy="1346521"/>
            <a:chOff x="0" y="0"/>
            <a:chExt cx="1808987" cy="35463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08987" cy="354639"/>
            </a:xfrm>
            <a:custGeom>
              <a:avLst/>
              <a:gdLst/>
              <a:ahLst/>
              <a:cxnLst/>
              <a:rect r="r" b="b" t="t" l="l"/>
              <a:pathLst>
                <a:path h="354639" w="1808987">
                  <a:moveTo>
                    <a:pt x="112716" y="0"/>
                  </a:moveTo>
                  <a:lnTo>
                    <a:pt x="1696270" y="0"/>
                  </a:lnTo>
                  <a:cubicBezTo>
                    <a:pt x="1726165" y="0"/>
                    <a:pt x="1754835" y="11875"/>
                    <a:pt x="1775973" y="33014"/>
                  </a:cubicBezTo>
                  <a:cubicBezTo>
                    <a:pt x="1797111" y="54152"/>
                    <a:pt x="1808987" y="82822"/>
                    <a:pt x="1808987" y="112716"/>
                  </a:cubicBezTo>
                  <a:lnTo>
                    <a:pt x="1808987" y="241923"/>
                  </a:lnTo>
                  <a:cubicBezTo>
                    <a:pt x="1808987" y="271817"/>
                    <a:pt x="1797111" y="300487"/>
                    <a:pt x="1775973" y="321625"/>
                  </a:cubicBezTo>
                  <a:cubicBezTo>
                    <a:pt x="1754835" y="342764"/>
                    <a:pt x="1726165" y="354639"/>
                    <a:pt x="1696270" y="354639"/>
                  </a:cubicBezTo>
                  <a:lnTo>
                    <a:pt x="112716" y="354639"/>
                  </a:lnTo>
                  <a:cubicBezTo>
                    <a:pt x="82822" y="354639"/>
                    <a:pt x="54152" y="342764"/>
                    <a:pt x="33014" y="321625"/>
                  </a:cubicBezTo>
                  <a:cubicBezTo>
                    <a:pt x="11875" y="300487"/>
                    <a:pt x="0" y="271817"/>
                    <a:pt x="0" y="241923"/>
                  </a:cubicBezTo>
                  <a:lnTo>
                    <a:pt x="0" y="112716"/>
                  </a:lnTo>
                  <a:cubicBezTo>
                    <a:pt x="0" y="82822"/>
                    <a:pt x="11875" y="54152"/>
                    <a:pt x="33014" y="33014"/>
                  </a:cubicBezTo>
                  <a:cubicBezTo>
                    <a:pt x="54152" y="11875"/>
                    <a:pt x="82822" y="0"/>
                    <a:pt x="11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715C4">
                    <a:alpha val="100000"/>
                  </a:srgbClr>
                </a:gs>
                <a:gs pos="100000">
                  <a:srgbClr val="1531C3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9050" cap="rnd">
              <a:solidFill>
                <a:srgbClr val="1B0A6B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808987" cy="3546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2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888792" y="5289094"/>
            <a:ext cx="6868497" cy="1346521"/>
            <a:chOff x="0" y="0"/>
            <a:chExt cx="1808987" cy="35463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08987" cy="354639"/>
            </a:xfrm>
            <a:custGeom>
              <a:avLst/>
              <a:gdLst/>
              <a:ahLst/>
              <a:cxnLst/>
              <a:rect r="r" b="b" t="t" l="l"/>
              <a:pathLst>
                <a:path h="354639" w="1808987">
                  <a:moveTo>
                    <a:pt x="112716" y="0"/>
                  </a:moveTo>
                  <a:lnTo>
                    <a:pt x="1696270" y="0"/>
                  </a:lnTo>
                  <a:cubicBezTo>
                    <a:pt x="1726165" y="0"/>
                    <a:pt x="1754835" y="11875"/>
                    <a:pt x="1775973" y="33014"/>
                  </a:cubicBezTo>
                  <a:cubicBezTo>
                    <a:pt x="1797111" y="54152"/>
                    <a:pt x="1808987" y="82822"/>
                    <a:pt x="1808987" y="112716"/>
                  </a:cubicBezTo>
                  <a:lnTo>
                    <a:pt x="1808987" y="241923"/>
                  </a:lnTo>
                  <a:cubicBezTo>
                    <a:pt x="1808987" y="271817"/>
                    <a:pt x="1797111" y="300487"/>
                    <a:pt x="1775973" y="321625"/>
                  </a:cubicBezTo>
                  <a:cubicBezTo>
                    <a:pt x="1754835" y="342764"/>
                    <a:pt x="1726165" y="354639"/>
                    <a:pt x="1696270" y="354639"/>
                  </a:cubicBezTo>
                  <a:lnTo>
                    <a:pt x="112716" y="354639"/>
                  </a:lnTo>
                  <a:cubicBezTo>
                    <a:pt x="82822" y="354639"/>
                    <a:pt x="54152" y="342764"/>
                    <a:pt x="33014" y="321625"/>
                  </a:cubicBezTo>
                  <a:cubicBezTo>
                    <a:pt x="11875" y="300487"/>
                    <a:pt x="0" y="271817"/>
                    <a:pt x="0" y="241923"/>
                  </a:cubicBezTo>
                  <a:lnTo>
                    <a:pt x="0" y="112716"/>
                  </a:lnTo>
                  <a:cubicBezTo>
                    <a:pt x="0" y="82822"/>
                    <a:pt x="11875" y="54152"/>
                    <a:pt x="33014" y="33014"/>
                  </a:cubicBezTo>
                  <a:cubicBezTo>
                    <a:pt x="54152" y="11875"/>
                    <a:pt x="82822" y="0"/>
                    <a:pt x="11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715C4">
                    <a:alpha val="100000"/>
                  </a:srgbClr>
                </a:gs>
                <a:gs pos="100000">
                  <a:srgbClr val="1531C3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9050" cap="rnd">
              <a:solidFill>
                <a:srgbClr val="1B0A6B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808987" cy="3546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2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805058" y="7483340"/>
            <a:ext cx="6868497" cy="1346521"/>
            <a:chOff x="0" y="0"/>
            <a:chExt cx="1808987" cy="35463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08987" cy="354639"/>
            </a:xfrm>
            <a:custGeom>
              <a:avLst/>
              <a:gdLst/>
              <a:ahLst/>
              <a:cxnLst/>
              <a:rect r="r" b="b" t="t" l="l"/>
              <a:pathLst>
                <a:path h="354639" w="1808987">
                  <a:moveTo>
                    <a:pt x="112716" y="0"/>
                  </a:moveTo>
                  <a:lnTo>
                    <a:pt x="1696270" y="0"/>
                  </a:lnTo>
                  <a:cubicBezTo>
                    <a:pt x="1726165" y="0"/>
                    <a:pt x="1754835" y="11875"/>
                    <a:pt x="1775973" y="33014"/>
                  </a:cubicBezTo>
                  <a:cubicBezTo>
                    <a:pt x="1797111" y="54152"/>
                    <a:pt x="1808987" y="82822"/>
                    <a:pt x="1808987" y="112716"/>
                  </a:cubicBezTo>
                  <a:lnTo>
                    <a:pt x="1808987" y="241923"/>
                  </a:lnTo>
                  <a:cubicBezTo>
                    <a:pt x="1808987" y="271817"/>
                    <a:pt x="1797111" y="300487"/>
                    <a:pt x="1775973" y="321625"/>
                  </a:cubicBezTo>
                  <a:cubicBezTo>
                    <a:pt x="1754835" y="342764"/>
                    <a:pt x="1726165" y="354639"/>
                    <a:pt x="1696270" y="354639"/>
                  </a:cubicBezTo>
                  <a:lnTo>
                    <a:pt x="112716" y="354639"/>
                  </a:lnTo>
                  <a:cubicBezTo>
                    <a:pt x="82822" y="354639"/>
                    <a:pt x="54152" y="342764"/>
                    <a:pt x="33014" y="321625"/>
                  </a:cubicBezTo>
                  <a:cubicBezTo>
                    <a:pt x="11875" y="300487"/>
                    <a:pt x="0" y="271817"/>
                    <a:pt x="0" y="241923"/>
                  </a:cubicBezTo>
                  <a:lnTo>
                    <a:pt x="0" y="112716"/>
                  </a:lnTo>
                  <a:cubicBezTo>
                    <a:pt x="0" y="82822"/>
                    <a:pt x="11875" y="54152"/>
                    <a:pt x="33014" y="33014"/>
                  </a:cubicBezTo>
                  <a:cubicBezTo>
                    <a:pt x="54152" y="11875"/>
                    <a:pt x="82822" y="0"/>
                    <a:pt x="11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715C4">
                    <a:alpha val="100000"/>
                  </a:srgbClr>
                </a:gs>
                <a:gs pos="100000">
                  <a:srgbClr val="1531C3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9050" cap="rnd">
              <a:solidFill>
                <a:srgbClr val="1B0A6B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808987" cy="3546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2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945538" y="7483340"/>
            <a:ext cx="6868497" cy="1346521"/>
            <a:chOff x="0" y="0"/>
            <a:chExt cx="1808987" cy="35463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08987" cy="354639"/>
            </a:xfrm>
            <a:custGeom>
              <a:avLst/>
              <a:gdLst/>
              <a:ahLst/>
              <a:cxnLst/>
              <a:rect r="r" b="b" t="t" l="l"/>
              <a:pathLst>
                <a:path h="354639" w="1808987">
                  <a:moveTo>
                    <a:pt x="112716" y="0"/>
                  </a:moveTo>
                  <a:lnTo>
                    <a:pt x="1696270" y="0"/>
                  </a:lnTo>
                  <a:cubicBezTo>
                    <a:pt x="1726165" y="0"/>
                    <a:pt x="1754835" y="11875"/>
                    <a:pt x="1775973" y="33014"/>
                  </a:cubicBezTo>
                  <a:cubicBezTo>
                    <a:pt x="1797111" y="54152"/>
                    <a:pt x="1808987" y="82822"/>
                    <a:pt x="1808987" y="112716"/>
                  </a:cubicBezTo>
                  <a:lnTo>
                    <a:pt x="1808987" y="241923"/>
                  </a:lnTo>
                  <a:cubicBezTo>
                    <a:pt x="1808987" y="271817"/>
                    <a:pt x="1797111" y="300487"/>
                    <a:pt x="1775973" y="321625"/>
                  </a:cubicBezTo>
                  <a:cubicBezTo>
                    <a:pt x="1754835" y="342764"/>
                    <a:pt x="1726165" y="354639"/>
                    <a:pt x="1696270" y="354639"/>
                  </a:cubicBezTo>
                  <a:lnTo>
                    <a:pt x="112716" y="354639"/>
                  </a:lnTo>
                  <a:cubicBezTo>
                    <a:pt x="82822" y="354639"/>
                    <a:pt x="54152" y="342764"/>
                    <a:pt x="33014" y="321625"/>
                  </a:cubicBezTo>
                  <a:cubicBezTo>
                    <a:pt x="11875" y="300487"/>
                    <a:pt x="0" y="271817"/>
                    <a:pt x="0" y="241923"/>
                  </a:cubicBezTo>
                  <a:lnTo>
                    <a:pt x="0" y="112716"/>
                  </a:lnTo>
                  <a:cubicBezTo>
                    <a:pt x="0" y="82822"/>
                    <a:pt x="11875" y="54152"/>
                    <a:pt x="33014" y="33014"/>
                  </a:cubicBezTo>
                  <a:cubicBezTo>
                    <a:pt x="54152" y="11875"/>
                    <a:pt x="82822" y="0"/>
                    <a:pt x="11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715C4">
                    <a:alpha val="100000"/>
                  </a:srgbClr>
                </a:gs>
                <a:gs pos="100000">
                  <a:srgbClr val="1531C3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9050" cap="rnd">
              <a:solidFill>
                <a:srgbClr val="1B0A6B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808987" cy="3546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2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2203749" y="3389610"/>
            <a:ext cx="752301" cy="752301"/>
          </a:xfrm>
          <a:custGeom>
            <a:avLst/>
            <a:gdLst/>
            <a:ahLst/>
            <a:cxnLst/>
            <a:rect r="r" b="b" t="t" l="l"/>
            <a:pathLst>
              <a:path h="752301" w="752301">
                <a:moveTo>
                  <a:pt x="0" y="0"/>
                </a:moveTo>
                <a:lnTo>
                  <a:pt x="752301" y="0"/>
                </a:lnTo>
                <a:lnTo>
                  <a:pt x="752301" y="752302"/>
                </a:lnTo>
                <a:lnTo>
                  <a:pt x="0" y="7523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400975" y="3390900"/>
            <a:ext cx="751012" cy="751012"/>
          </a:xfrm>
          <a:custGeom>
            <a:avLst/>
            <a:gdLst/>
            <a:ahLst/>
            <a:cxnLst/>
            <a:rect r="r" b="b" t="t" l="l"/>
            <a:pathLst>
              <a:path h="751012" w="751012">
                <a:moveTo>
                  <a:pt x="0" y="0"/>
                </a:moveTo>
                <a:lnTo>
                  <a:pt x="751011" y="0"/>
                </a:lnTo>
                <a:lnTo>
                  <a:pt x="751011" y="751012"/>
                </a:lnTo>
                <a:lnTo>
                  <a:pt x="0" y="7510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203749" y="5586849"/>
            <a:ext cx="751012" cy="751012"/>
          </a:xfrm>
          <a:custGeom>
            <a:avLst/>
            <a:gdLst/>
            <a:ahLst/>
            <a:cxnLst/>
            <a:rect r="r" b="b" t="t" l="l"/>
            <a:pathLst>
              <a:path h="751012" w="751012">
                <a:moveTo>
                  <a:pt x="0" y="0"/>
                </a:moveTo>
                <a:lnTo>
                  <a:pt x="751011" y="0"/>
                </a:lnTo>
                <a:lnTo>
                  <a:pt x="751011" y="751011"/>
                </a:lnTo>
                <a:lnTo>
                  <a:pt x="0" y="7510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400975" y="5585675"/>
            <a:ext cx="751012" cy="751012"/>
          </a:xfrm>
          <a:custGeom>
            <a:avLst/>
            <a:gdLst/>
            <a:ahLst/>
            <a:cxnLst/>
            <a:rect r="r" b="b" t="t" l="l"/>
            <a:pathLst>
              <a:path h="751012" w="751012">
                <a:moveTo>
                  <a:pt x="0" y="0"/>
                </a:moveTo>
                <a:lnTo>
                  <a:pt x="751011" y="0"/>
                </a:lnTo>
                <a:lnTo>
                  <a:pt x="751011" y="751012"/>
                </a:lnTo>
                <a:lnTo>
                  <a:pt x="0" y="75101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205039" y="7781095"/>
            <a:ext cx="751012" cy="751012"/>
          </a:xfrm>
          <a:custGeom>
            <a:avLst/>
            <a:gdLst/>
            <a:ahLst/>
            <a:cxnLst/>
            <a:rect r="r" b="b" t="t" l="l"/>
            <a:pathLst>
              <a:path h="751012" w="751012">
                <a:moveTo>
                  <a:pt x="0" y="0"/>
                </a:moveTo>
                <a:lnTo>
                  <a:pt x="751011" y="0"/>
                </a:lnTo>
                <a:lnTo>
                  <a:pt x="751011" y="751011"/>
                </a:lnTo>
                <a:lnTo>
                  <a:pt x="0" y="75101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400975" y="7781095"/>
            <a:ext cx="751012" cy="751012"/>
          </a:xfrm>
          <a:custGeom>
            <a:avLst/>
            <a:gdLst/>
            <a:ahLst/>
            <a:cxnLst/>
            <a:rect r="r" b="b" t="t" l="l"/>
            <a:pathLst>
              <a:path h="751012" w="751012">
                <a:moveTo>
                  <a:pt x="0" y="0"/>
                </a:moveTo>
                <a:lnTo>
                  <a:pt x="751011" y="0"/>
                </a:lnTo>
                <a:lnTo>
                  <a:pt x="751011" y="751011"/>
                </a:lnTo>
                <a:lnTo>
                  <a:pt x="0" y="75101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5987671" y="1200150"/>
            <a:ext cx="6312659" cy="92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55"/>
              </a:lnSpc>
              <a:spcBef>
                <a:spcPct val="0"/>
              </a:spcBef>
            </a:pPr>
            <a:r>
              <a:rPr lang="en-US" b="true" sz="7186" spc="-359">
                <a:solidFill>
                  <a:srgbClr val="1B0A6B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Sommaire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677204" y="3595327"/>
            <a:ext cx="4104952" cy="426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5"/>
              </a:lnSpc>
            </a:pPr>
            <a:r>
              <a:rPr lang="en-US" sz="3399" b="tru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Contexte &amp; Objectifs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817684" y="3395302"/>
            <a:ext cx="4104952" cy="826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5"/>
              </a:lnSpc>
            </a:pPr>
            <a:r>
              <a:rPr lang="en-US" sz="3399" b="tru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Technologies utilisées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677204" y="5791921"/>
            <a:ext cx="4104952" cy="426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5"/>
              </a:lnSpc>
            </a:pPr>
            <a:r>
              <a:rPr lang="en-US" sz="3399" b="tru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Architecture globale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817684" y="5790747"/>
            <a:ext cx="4104952" cy="426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5"/>
              </a:lnSpc>
            </a:pPr>
            <a:r>
              <a:rPr lang="en-US" sz="3399" b="tru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</a:t>
            </a:r>
            <a:r>
              <a:rPr lang="en-US" b="true" sz="3399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ntologie utilisée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733950" y="7986167"/>
            <a:ext cx="4104952" cy="426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5"/>
              </a:lnSpc>
            </a:pPr>
            <a:r>
              <a:rPr lang="en-US" sz="3399" b="tru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Exemples d’exécution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874430" y="7786142"/>
            <a:ext cx="4104952" cy="826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5"/>
              </a:lnSpc>
            </a:pPr>
            <a:r>
              <a:rPr lang="en-US" sz="3399" b="tru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Limites &amp;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715C4">
                <a:alpha val="100000"/>
              </a:srgbClr>
            </a:gs>
            <a:gs pos="100000">
              <a:srgbClr val="1531C3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88280" y="1028700"/>
            <a:ext cx="1999441" cy="1999441"/>
          </a:xfrm>
          <a:custGeom>
            <a:avLst/>
            <a:gdLst/>
            <a:ahLst/>
            <a:cxnLst/>
            <a:rect r="r" b="b" t="t" l="l"/>
            <a:pathLst>
              <a:path h="1999441" w="1999441">
                <a:moveTo>
                  <a:pt x="0" y="0"/>
                </a:moveTo>
                <a:lnTo>
                  <a:pt x="1999440" y="0"/>
                </a:lnTo>
                <a:lnTo>
                  <a:pt x="1999440" y="1999441"/>
                </a:lnTo>
                <a:lnTo>
                  <a:pt x="0" y="1999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99720" y="7258859"/>
            <a:ext cx="1999441" cy="1999441"/>
          </a:xfrm>
          <a:custGeom>
            <a:avLst/>
            <a:gdLst/>
            <a:ahLst/>
            <a:cxnLst/>
            <a:rect r="r" b="b" t="t" l="l"/>
            <a:pathLst>
              <a:path h="1999441" w="1999441">
                <a:moveTo>
                  <a:pt x="0" y="0"/>
                </a:moveTo>
                <a:lnTo>
                  <a:pt x="1999440" y="0"/>
                </a:lnTo>
                <a:lnTo>
                  <a:pt x="1999440" y="1999441"/>
                </a:lnTo>
                <a:lnTo>
                  <a:pt x="0" y="1999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671191" y="3796979"/>
            <a:ext cx="6868497" cy="2109484"/>
            <a:chOff x="0" y="0"/>
            <a:chExt cx="1808987" cy="5555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08987" cy="555584"/>
            </a:xfrm>
            <a:custGeom>
              <a:avLst/>
              <a:gdLst/>
              <a:ahLst/>
              <a:cxnLst/>
              <a:rect r="r" b="b" t="t" l="l"/>
              <a:pathLst>
                <a:path h="555584" w="1808987">
                  <a:moveTo>
                    <a:pt x="112716" y="0"/>
                  </a:moveTo>
                  <a:lnTo>
                    <a:pt x="1696270" y="0"/>
                  </a:lnTo>
                  <a:cubicBezTo>
                    <a:pt x="1726165" y="0"/>
                    <a:pt x="1754835" y="11875"/>
                    <a:pt x="1775973" y="33014"/>
                  </a:cubicBezTo>
                  <a:cubicBezTo>
                    <a:pt x="1797111" y="54152"/>
                    <a:pt x="1808987" y="82822"/>
                    <a:pt x="1808987" y="112716"/>
                  </a:cubicBezTo>
                  <a:lnTo>
                    <a:pt x="1808987" y="442868"/>
                  </a:lnTo>
                  <a:cubicBezTo>
                    <a:pt x="1808987" y="472762"/>
                    <a:pt x="1797111" y="501432"/>
                    <a:pt x="1775973" y="522570"/>
                  </a:cubicBezTo>
                  <a:cubicBezTo>
                    <a:pt x="1754835" y="543709"/>
                    <a:pt x="1726165" y="555584"/>
                    <a:pt x="1696270" y="555584"/>
                  </a:cubicBezTo>
                  <a:lnTo>
                    <a:pt x="112716" y="555584"/>
                  </a:lnTo>
                  <a:cubicBezTo>
                    <a:pt x="82822" y="555584"/>
                    <a:pt x="54152" y="543709"/>
                    <a:pt x="33014" y="522570"/>
                  </a:cubicBezTo>
                  <a:cubicBezTo>
                    <a:pt x="11875" y="501432"/>
                    <a:pt x="0" y="472762"/>
                    <a:pt x="0" y="442868"/>
                  </a:cubicBezTo>
                  <a:lnTo>
                    <a:pt x="0" y="112716"/>
                  </a:lnTo>
                  <a:cubicBezTo>
                    <a:pt x="0" y="82822"/>
                    <a:pt x="11875" y="54152"/>
                    <a:pt x="33014" y="33014"/>
                  </a:cubicBezTo>
                  <a:cubicBezTo>
                    <a:pt x="54152" y="11875"/>
                    <a:pt x="82822" y="0"/>
                    <a:pt x="112716" y="0"/>
                  </a:cubicBezTo>
                  <a:close/>
                </a:path>
              </a:pathLst>
            </a:custGeom>
            <a:solidFill>
              <a:srgbClr val="1B0A6B"/>
            </a:solidFill>
            <a:ln w="19050" cap="rnd">
              <a:solidFill>
                <a:srgbClr val="1B0A6B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808987" cy="555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2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71191" y="6744663"/>
            <a:ext cx="6868497" cy="2109484"/>
            <a:chOff x="0" y="0"/>
            <a:chExt cx="1808987" cy="5555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08987" cy="555584"/>
            </a:xfrm>
            <a:custGeom>
              <a:avLst/>
              <a:gdLst/>
              <a:ahLst/>
              <a:cxnLst/>
              <a:rect r="r" b="b" t="t" l="l"/>
              <a:pathLst>
                <a:path h="555584" w="1808987">
                  <a:moveTo>
                    <a:pt x="112716" y="0"/>
                  </a:moveTo>
                  <a:lnTo>
                    <a:pt x="1696270" y="0"/>
                  </a:lnTo>
                  <a:cubicBezTo>
                    <a:pt x="1726165" y="0"/>
                    <a:pt x="1754835" y="11875"/>
                    <a:pt x="1775973" y="33014"/>
                  </a:cubicBezTo>
                  <a:cubicBezTo>
                    <a:pt x="1797111" y="54152"/>
                    <a:pt x="1808987" y="82822"/>
                    <a:pt x="1808987" y="112716"/>
                  </a:cubicBezTo>
                  <a:lnTo>
                    <a:pt x="1808987" y="442868"/>
                  </a:lnTo>
                  <a:cubicBezTo>
                    <a:pt x="1808987" y="472762"/>
                    <a:pt x="1797111" y="501432"/>
                    <a:pt x="1775973" y="522570"/>
                  </a:cubicBezTo>
                  <a:cubicBezTo>
                    <a:pt x="1754835" y="543709"/>
                    <a:pt x="1726165" y="555584"/>
                    <a:pt x="1696270" y="555584"/>
                  </a:cubicBezTo>
                  <a:lnTo>
                    <a:pt x="112716" y="555584"/>
                  </a:lnTo>
                  <a:cubicBezTo>
                    <a:pt x="82822" y="555584"/>
                    <a:pt x="54152" y="543709"/>
                    <a:pt x="33014" y="522570"/>
                  </a:cubicBezTo>
                  <a:cubicBezTo>
                    <a:pt x="11875" y="501432"/>
                    <a:pt x="0" y="472762"/>
                    <a:pt x="0" y="442868"/>
                  </a:cubicBezTo>
                  <a:lnTo>
                    <a:pt x="0" y="112716"/>
                  </a:lnTo>
                  <a:cubicBezTo>
                    <a:pt x="0" y="82822"/>
                    <a:pt x="11875" y="54152"/>
                    <a:pt x="33014" y="33014"/>
                  </a:cubicBezTo>
                  <a:cubicBezTo>
                    <a:pt x="54152" y="11875"/>
                    <a:pt x="82822" y="0"/>
                    <a:pt x="112716" y="0"/>
                  </a:cubicBezTo>
                  <a:close/>
                </a:path>
              </a:pathLst>
            </a:custGeom>
            <a:solidFill>
              <a:srgbClr val="1B0A6B"/>
            </a:solidFill>
            <a:ln w="19050" cap="rnd">
              <a:solidFill>
                <a:srgbClr val="1B0A6B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808987" cy="555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2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48312" y="3796979"/>
            <a:ext cx="6868497" cy="2109484"/>
            <a:chOff x="0" y="0"/>
            <a:chExt cx="1808987" cy="5555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08987" cy="555584"/>
            </a:xfrm>
            <a:custGeom>
              <a:avLst/>
              <a:gdLst/>
              <a:ahLst/>
              <a:cxnLst/>
              <a:rect r="r" b="b" t="t" l="l"/>
              <a:pathLst>
                <a:path h="555584" w="1808987">
                  <a:moveTo>
                    <a:pt x="112716" y="0"/>
                  </a:moveTo>
                  <a:lnTo>
                    <a:pt x="1696270" y="0"/>
                  </a:lnTo>
                  <a:cubicBezTo>
                    <a:pt x="1726165" y="0"/>
                    <a:pt x="1754835" y="11875"/>
                    <a:pt x="1775973" y="33014"/>
                  </a:cubicBezTo>
                  <a:cubicBezTo>
                    <a:pt x="1797111" y="54152"/>
                    <a:pt x="1808987" y="82822"/>
                    <a:pt x="1808987" y="112716"/>
                  </a:cubicBezTo>
                  <a:lnTo>
                    <a:pt x="1808987" y="442868"/>
                  </a:lnTo>
                  <a:cubicBezTo>
                    <a:pt x="1808987" y="472762"/>
                    <a:pt x="1797111" y="501432"/>
                    <a:pt x="1775973" y="522570"/>
                  </a:cubicBezTo>
                  <a:cubicBezTo>
                    <a:pt x="1754835" y="543709"/>
                    <a:pt x="1726165" y="555584"/>
                    <a:pt x="1696270" y="555584"/>
                  </a:cubicBezTo>
                  <a:lnTo>
                    <a:pt x="112716" y="555584"/>
                  </a:lnTo>
                  <a:cubicBezTo>
                    <a:pt x="82822" y="555584"/>
                    <a:pt x="54152" y="543709"/>
                    <a:pt x="33014" y="522570"/>
                  </a:cubicBezTo>
                  <a:cubicBezTo>
                    <a:pt x="11875" y="501432"/>
                    <a:pt x="0" y="472762"/>
                    <a:pt x="0" y="442868"/>
                  </a:cubicBezTo>
                  <a:lnTo>
                    <a:pt x="0" y="112716"/>
                  </a:lnTo>
                  <a:cubicBezTo>
                    <a:pt x="0" y="82822"/>
                    <a:pt x="11875" y="54152"/>
                    <a:pt x="33014" y="33014"/>
                  </a:cubicBezTo>
                  <a:cubicBezTo>
                    <a:pt x="54152" y="11875"/>
                    <a:pt x="82822" y="0"/>
                    <a:pt x="112716" y="0"/>
                  </a:cubicBezTo>
                  <a:close/>
                </a:path>
              </a:pathLst>
            </a:custGeom>
            <a:solidFill>
              <a:srgbClr val="1B0A6B"/>
            </a:solidFill>
            <a:ln w="19050" cap="rnd">
              <a:solidFill>
                <a:srgbClr val="1B0A6B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808987" cy="555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2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5400000">
            <a:off x="5007356" y="4041433"/>
            <a:ext cx="350409" cy="406861"/>
          </a:xfrm>
          <a:custGeom>
            <a:avLst/>
            <a:gdLst/>
            <a:ahLst/>
            <a:cxnLst/>
            <a:rect r="r" b="b" t="t" l="l"/>
            <a:pathLst>
              <a:path h="406861" w="350409">
                <a:moveTo>
                  <a:pt x="0" y="0"/>
                </a:moveTo>
                <a:lnTo>
                  <a:pt x="350409" y="0"/>
                </a:lnTo>
                <a:lnTo>
                  <a:pt x="350409" y="406861"/>
                </a:lnTo>
                <a:lnTo>
                  <a:pt x="0" y="4068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-5400000">
            <a:off x="12930235" y="4041433"/>
            <a:ext cx="350409" cy="406861"/>
          </a:xfrm>
          <a:custGeom>
            <a:avLst/>
            <a:gdLst/>
            <a:ahLst/>
            <a:cxnLst/>
            <a:rect r="r" b="b" t="t" l="l"/>
            <a:pathLst>
              <a:path h="406861" w="350409">
                <a:moveTo>
                  <a:pt x="0" y="0"/>
                </a:moveTo>
                <a:lnTo>
                  <a:pt x="350409" y="0"/>
                </a:lnTo>
                <a:lnTo>
                  <a:pt x="350409" y="406861"/>
                </a:lnTo>
                <a:lnTo>
                  <a:pt x="0" y="4068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-5400000">
            <a:off x="12930235" y="6989117"/>
            <a:ext cx="350409" cy="406861"/>
          </a:xfrm>
          <a:custGeom>
            <a:avLst/>
            <a:gdLst/>
            <a:ahLst/>
            <a:cxnLst/>
            <a:rect r="r" b="b" t="t" l="l"/>
            <a:pathLst>
              <a:path h="406861" w="350409">
                <a:moveTo>
                  <a:pt x="0" y="0"/>
                </a:moveTo>
                <a:lnTo>
                  <a:pt x="350409" y="0"/>
                </a:lnTo>
                <a:lnTo>
                  <a:pt x="350409" y="406861"/>
                </a:lnTo>
                <a:lnTo>
                  <a:pt x="0" y="4068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600261" y="-636869"/>
            <a:ext cx="856878" cy="1273738"/>
          </a:xfrm>
          <a:custGeom>
            <a:avLst/>
            <a:gdLst/>
            <a:ahLst/>
            <a:cxnLst/>
            <a:rect r="r" b="b" t="t" l="l"/>
            <a:pathLst>
              <a:path h="1273738" w="856878">
                <a:moveTo>
                  <a:pt x="0" y="0"/>
                </a:moveTo>
                <a:lnTo>
                  <a:pt x="856878" y="0"/>
                </a:lnTo>
                <a:lnTo>
                  <a:pt x="856878" y="1273738"/>
                </a:lnTo>
                <a:lnTo>
                  <a:pt x="0" y="12737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830861" y="9650131"/>
            <a:ext cx="856878" cy="1273738"/>
          </a:xfrm>
          <a:custGeom>
            <a:avLst/>
            <a:gdLst/>
            <a:ahLst/>
            <a:cxnLst/>
            <a:rect r="r" b="b" t="t" l="l"/>
            <a:pathLst>
              <a:path h="1273738" w="856878">
                <a:moveTo>
                  <a:pt x="0" y="0"/>
                </a:moveTo>
                <a:lnTo>
                  <a:pt x="856878" y="0"/>
                </a:lnTo>
                <a:lnTo>
                  <a:pt x="856878" y="1273738"/>
                </a:lnTo>
                <a:lnTo>
                  <a:pt x="0" y="12737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908163" y="4505793"/>
            <a:ext cx="4548795" cy="426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5"/>
              </a:lnSpc>
            </a:pPr>
            <a:r>
              <a:rPr lang="en-US" b="true" sz="3399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</a:t>
            </a:r>
            <a:r>
              <a:rPr lang="en-US" b="true" sz="3399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ontexte métier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93085" y="4505793"/>
            <a:ext cx="4224710" cy="426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5"/>
              </a:lnSpc>
            </a:pPr>
            <a:r>
              <a:rPr lang="en-US" b="true" sz="3399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P</a:t>
            </a:r>
            <a:r>
              <a:rPr lang="en-US" b="true" sz="3399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roblématique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13386" y="7453477"/>
            <a:ext cx="5584106" cy="426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5"/>
              </a:lnSpc>
            </a:pPr>
            <a:r>
              <a:rPr lang="en-US" b="true" sz="3399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Obj</a:t>
            </a:r>
            <a:r>
              <a:rPr lang="en-US" b="true" sz="3399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ectif applicatif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061343" y="1200150"/>
            <a:ext cx="10165314" cy="92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55"/>
              </a:lnSpc>
              <a:spcBef>
                <a:spcPct val="0"/>
              </a:spcBef>
            </a:pPr>
            <a:r>
              <a:rPr lang="en-US" b="true" sz="7186" spc="-359" strike="noStrike" u="none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C</a:t>
            </a:r>
            <a:r>
              <a:rPr lang="en-US" b="true" sz="7186" spc="-359" strike="noStrike" u="none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ontex</a:t>
            </a:r>
            <a:r>
              <a:rPr lang="en-US" b="true" sz="7186" spc="-359" strike="noStrike" u="none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te </a:t>
            </a:r>
            <a:r>
              <a:rPr lang="en-US" b="true" sz="7186" spc="-359" strike="noStrike" u="none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&amp;</a:t>
            </a:r>
            <a:r>
              <a:rPr lang="en-US" b="true" sz="7186" spc="-359" strike="noStrike" u="none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 </a:t>
            </a:r>
            <a:r>
              <a:rPr lang="en-US" b="true" sz="7186" spc="-359" strike="noStrike" u="none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Obj</a:t>
            </a:r>
            <a:r>
              <a:rPr lang="en-US" b="true" sz="7186" spc="-359" strike="noStrike" u="none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e</a:t>
            </a:r>
            <a:r>
              <a:rPr lang="en-US" b="true" sz="7186" spc="-359" strike="noStrike" u="none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ctif</a:t>
            </a:r>
            <a:r>
              <a:rPr lang="en-US" b="true" sz="7186" spc="-359" strike="noStrike" u="none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28237" y="4999061"/>
            <a:ext cx="5708646" cy="692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1"/>
              </a:lnSpc>
            </a:pPr>
            <a:r>
              <a:rPr lang="en-US" sz="27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Accès c</a:t>
            </a:r>
            <a:r>
              <a:rPr lang="en-US" sz="27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omplexe à l’information médicale structurée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51116" y="4999061"/>
            <a:ext cx="5708646" cy="692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1"/>
              </a:lnSpc>
            </a:pPr>
            <a:r>
              <a:rPr lang="en-US" sz="27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Rech</a:t>
            </a:r>
            <a:r>
              <a:rPr lang="en-US" sz="27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erche d’information lente</a:t>
            </a:r>
          </a:p>
          <a:p>
            <a:pPr algn="ctr">
              <a:lnSpc>
                <a:spcPts val="2631"/>
              </a:lnSpc>
            </a:pPr>
            <a:r>
              <a:rPr lang="en-US" sz="27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et peu précise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748312" y="6744663"/>
            <a:ext cx="6868497" cy="2109484"/>
            <a:chOff x="0" y="0"/>
            <a:chExt cx="1808987" cy="5555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08987" cy="555584"/>
            </a:xfrm>
            <a:custGeom>
              <a:avLst/>
              <a:gdLst/>
              <a:ahLst/>
              <a:cxnLst/>
              <a:rect r="r" b="b" t="t" l="l"/>
              <a:pathLst>
                <a:path h="555584" w="1808987">
                  <a:moveTo>
                    <a:pt x="112716" y="0"/>
                  </a:moveTo>
                  <a:lnTo>
                    <a:pt x="1696270" y="0"/>
                  </a:lnTo>
                  <a:cubicBezTo>
                    <a:pt x="1726165" y="0"/>
                    <a:pt x="1754835" y="11875"/>
                    <a:pt x="1775973" y="33014"/>
                  </a:cubicBezTo>
                  <a:cubicBezTo>
                    <a:pt x="1797111" y="54152"/>
                    <a:pt x="1808987" y="82822"/>
                    <a:pt x="1808987" y="112716"/>
                  </a:cubicBezTo>
                  <a:lnTo>
                    <a:pt x="1808987" y="442868"/>
                  </a:lnTo>
                  <a:cubicBezTo>
                    <a:pt x="1808987" y="472762"/>
                    <a:pt x="1797111" y="501432"/>
                    <a:pt x="1775973" y="522570"/>
                  </a:cubicBezTo>
                  <a:cubicBezTo>
                    <a:pt x="1754835" y="543709"/>
                    <a:pt x="1726165" y="555584"/>
                    <a:pt x="1696270" y="555584"/>
                  </a:cubicBezTo>
                  <a:lnTo>
                    <a:pt x="112716" y="555584"/>
                  </a:lnTo>
                  <a:cubicBezTo>
                    <a:pt x="82822" y="555584"/>
                    <a:pt x="54152" y="543709"/>
                    <a:pt x="33014" y="522570"/>
                  </a:cubicBezTo>
                  <a:cubicBezTo>
                    <a:pt x="11875" y="501432"/>
                    <a:pt x="0" y="472762"/>
                    <a:pt x="0" y="442868"/>
                  </a:cubicBezTo>
                  <a:lnTo>
                    <a:pt x="0" y="112716"/>
                  </a:lnTo>
                  <a:cubicBezTo>
                    <a:pt x="0" y="82822"/>
                    <a:pt x="11875" y="54152"/>
                    <a:pt x="33014" y="33014"/>
                  </a:cubicBezTo>
                  <a:cubicBezTo>
                    <a:pt x="54152" y="11875"/>
                    <a:pt x="82822" y="0"/>
                    <a:pt x="112716" y="0"/>
                  </a:cubicBezTo>
                  <a:close/>
                </a:path>
              </a:pathLst>
            </a:custGeom>
            <a:solidFill>
              <a:srgbClr val="1B0A6B"/>
            </a:solidFill>
            <a:ln w="19050" cap="rnd">
              <a:solidFill>
                <a:srgbClr val="1B0A6B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808987" cy="555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2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-5400000">
            <a:off x="5007356" y="6989117"/>
            <a:ext cx="350409" cy="406861"/>
          </a:xfrm>
          <a:custGeom>
            <a:avLst/>
            <a:gdLst/>
            <a:ahLst/>
            <a:cxnLst/>
            <a:rect r="r" b="b" t="t" l="l"/>
            <a:pathLst>
              <a:path h="406861" w="350409">
                <a:moveTo>
                  <a:pt x="0" y="0"/>
                </a:moveTo>
                <a:lnTo>
                  <a:pt x="350409" y="0"/>
                </a:lnTo>
                <a:lnTo>
                  <a:pt x="350409" y="406861"/>
                </a:lnTo>
                <a:lnTo>
                  <a:pt x="0" y="4068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8" id="28"/>
          <p:cNvSpPr txBox="true"/>
          <p:nvPr/>
        </p:nvSpPr>
        <p:spPr>
          <a:xfrm rot="0">
            <a:off x="2908163" y="7453477"/>
            <a:ext cx="4548795" cy="426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5"/>
              </a:lnSpc>
            </a:pPr>
            <a:r>
              <a:rPr lang="en-US" b="true" sz="3399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Obj</a:t>
            </a:r>
            <a:r>
              <a:rPr lang="en-US" b="true" sz="3399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ectif académique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328237" y="7946745"/>
            <a:ext cx="5708646" cy="692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1"/>
              </a:lnSpc>
            </a:pPr>
            <a:r>
              <a:rPr lang="en-US" sz="27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Mis</a:t>
            </a:r>
            <a:r>
              <a:rPr lang="en-US" sz="27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e en œuvre</a:t>
            </a:r>
          </a:p>
          <a:p>
            <a:pPr algn="ctr">
              <a:lnSpc>
                <a:spcPts val="2631"/>
              </a:lnSpc>
            </a:pPr>
            <a:r>
              <a:rPr lang="en-US" sz="27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du Web sémantique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51116" y="7946745"/>
            <a:ext cx="5708646" cy="692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1"/>
              </a:lnSpc>
            </a:pPr>
            <a:r>
              <a:rPr lang="en-US" sz="27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Assistant</a:t>
            </a:r>
            <a:r>
              <a:rPr lang="en-US" sz="27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 intelligent</a:t>
            </a:r>
          </a:p>
          <a:p>
            <a:pPr algn="ctr">
              <a:lnSpc>
                <a:spcPts val="2631"/>
              </a:lnSpc>
            </a:pPr>
            <a:r>
              <a:rPr lang="en-US" sz="27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orienté décision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46142" y="1847156"/>
            <a:ext cx="9050587" cy="9050587"/>
            <a:chOff x="0" y="0"/>
            <a:chExt cx="558800" cy="55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gradFill rotWithShape="true">
              <a:gsLst>
                <a:gs pos="0">
                  <a:srgbClr val="6715C4">
                    <a:alpha val="100000"/>
                  </a:srgbClr>
                </a:gs>
                <a:gs pos="100000">
                  <a:srgbClr val="1531C3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9050" cap="sq">
              <a:solidFill>
                <a:srgbClr val="1B0A6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65100" y="155575"/>
              <a:ext cx="393700" cy="403225"/>
            </a:xfrm>
            <a:prstGeom prst="rect">
              <a:avLst/>
            </a:prstGeom>
          </p:spPr>
          <p:txBody>
            <a:bodyPr anchor="ctr" rtlCol="false" tIns="19765" lIns="19765" bIns="19765" rIns="19765"/>
            <a:lstStyle/>
            <a:p>
              <a:pPr algn="ctr">
                <a:lnSpc>
                  <a:spcPts val="76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206434" y="2819081"/>
            <a:ext cx="6052866" cy="6439219"/>
          </a:xfrm>
          <a:custGeom>
            <a:avLst/>
            <a:gdLst/>
            <a:ahLst/>
            <a:cxnLst/>
            <a:rect r="r" b="b" t="t" l="l"/>
            <a:pathLst>
              <a:path h="6439219" w="6052866">
                <a:moveTo>
                  <a:pt x="0" y="0"/>
                </a:moveTo>
                <a:lnTo>
                  <a:pt x="6052866" y="0"/>
                </a:lnTo>
                <a:lnTo>
                  <a:pt x="6052866" y="6439219"/>
                </a:lnTo>
                <a:lnTo>
                  <a:pt x="0" y="64392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713501" y="4441977"/>
            <a:ext cx="8941107" cy="1196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1"/>
              </a:lnSpc>
            </a:pPr>
            <a:r>
              <a:rPr lang="en-US" sz="3399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Modélis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ation sémantique des connaissances médicales.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08351" y="7023380"/>
            <a:ext cx="4748825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E64B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On</a:t>
            </a:r>
            <a:r>
              <a:rPr lang="en-US" b="true" sz="3799">
                <a:solidFill>
                  <a:srgbClr val="E64B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tologie médicale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08351" y="5685688"/>
            <a:ext cx="2790853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E64B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SPARQL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08351" y="3871747"/>
            <a:ext cx="2689847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E64B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RDF / OWL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08351" y="2538792"/>
            <a:ext cx="2887298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E64B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Pyth</a:t>
            </a:r>
            <a:r>
              <a:rPr lang="en-US" b="true" sz="3799">
                <a:solidFill>
                  <a:srgbClr val="E64B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200150"/>
            <a:ext cx="9450156" cy="92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55"/>
              </a:lnSpc>
              <a:spcBef>
                <a:spcPct val="0"/>
              </a:spcBef>
            </a:pPr>
            <a:r>
              <a:rPr lang="en-US" b="true" sz="7186" spc="-359">
                <a:solidFill>
                  <a:srgbClr val="1B0A6B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Technologies utilisées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13501" y="3109022"/>
            <a:ext cx="8765355" cy="586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861"/>
              </a:lnSpc>
            </a:pPr>
            <a:r>
              <a:rPr lang="en-US" sz="3399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Log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ique du chatbot e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t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tra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itement de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s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requêt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13501" y="6255919"/>
            <a:ext cx="7856667" cy="586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861"/>
              </a:lnSpc>
            </a:pPr>
            <a:r>
              <a:rPr lang="en-US" sz="3399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Int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errogation du graphe de connaissances.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3501" y="7726960"/>
            <a:ext cx="7856667" cy="453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433"/>
              </a:lnSpc>
            </a:pPr>
            <a:r>
              <a:rPr lang="en-US" sz="3399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Struc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t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ure for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me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lle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 du domaine de la 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sa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nt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é.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0999328" y="-739864"/>
            <a:ext cx="1479729" cy="1479729"/>
          </a:xfrm>
          <a:custGeom>
            <a:avLst/>
            <a:gdLst/>
            <a:ahLst/>
            <a:cxnLst/>
            <a:rect r="r" b="b" t="t" l="l"/>
            <a:pathLst>
              <a:path h="1479729" w="1479729">
                <a:moveTo>
                  <a:pt x="0" y="0"/>
                </a:moveTo>
                <a:lnTo>
                  <a:pt x="1479729" y="0"/>
                </a:lnTo>
                <a:lnTo>
                  <a:pt x="1479729" y="1479728"/>
                </a:lnTo>
                <a:lnTo>
                  <a:pt x="0" y="14797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926883" y="9465357"/>
            <a:ext cx="1643285" cy="1643285"/>
          </a:xfrm>
          <a:custGeom>
            <a:avLst/>
            <a:gdLst/>
            <a:ahLst/>
            <a:cxnLst/>
            <a:rect r="r" b="b" t="t" l="l"/>
            <a:pathLst>
              <a:path h="1643285" w="1643285">
                <a:moveTo>
                  <a:pt x="0" y="0"/>
                </a:moveTo>
                <a:lnTo>
                  <a:pt x="1643285" y="0"/>
                </a:lnTo>
                <a:lnTo>
                  <a:pt x="1643285" y="1643286"/>
                </a:lnTo>
                <a:lnTo>
                  <a:pt x="0" y="16432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575395" y="1199307"/>
            <a:ext cx="1425210" cy="1425210"/>
          </a:xfrm>
          <a:custGeom>
            <a:avLst/>
            <a:gdLst/>
            <a:ahLst/>
            <a:cxnLst/>
            <a:rect r="r" b="b" t="t" l="l"/>
            <a:pathLst>
              <a:path h="1425210" w="1425210">
                <a:moveTo>
                  <a:pt x="0" y="0"/>
                </a:moveTo>
                <a:lnTo>
                  <a:pt x="1425210" y="0"/>
                </a:lnTo>
                <a:lnTo>
                  <a:pt x="1425210" y="1425210"/>
                </a:lnTo>
                <a:lnTo>
                  <a:pt x="0" y="14252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508351" y="8361452"/>
            <a:ext cx="4748825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E64B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Visual Studio Code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13501" y="9065032"/>
            <a:ext cx="8332641" cy="453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433"/>
              </a:lnSpc>
            </a:pPr>
            <a:r>
              <a:rPr lang="en-US" sz="3399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Envir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o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nne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ment de développement du projet.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-1647089" y="-1322513"/>
            <a:ext cx="15254008" cy="15254008"/>
            <a:chOff x="0" y="0"/>
            <a:chExt cx="558800" cy="55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gradFill rotWithShape="true">
              <a:gsLst>
                <a:gs pos="0">
                  <a:srgbClr val="6715C4">
                    <a:alpha val="100000"/>
                  </a:srgbClr>
                </a:gs>
                <a:gs pos="100000">
                  <a:srgbClr val="1531C3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9050" cap="sq">
              <a:solidFill>
                <a:srgbClr val="1B0A6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65100" y="155575"/>
              <a:ext cx="393700" cy="403225"/>
            </a:xfrm>
            <a:prstGeom prst="rect">
              <a:avLst/>
            </a:prstGeom>
          </p:spPr>
          <p:txBody>
            <a:bodyPr anchor="ctr" rtlCol="false" tIns="19765" lIns="19765" bIns="19765" rIns="19765"/>
            <a:lstStyle/>
            <a:p>
              <a:pPr algn="ctr">
                <a:lnSpc>
                  <a:spcPts val="76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267007" y="8908919"/>
            <a:ext cx="2756162" cy="2756162"/>
          </a:xfrm>
          <a:custGeom>
            <a:avLst/>
            <a:gdLst/>
            <a:ahLst/>
            <a:cxnLst/>
            <a:rect r="r" b="b" t="t" l="l"/>
            <a:pathLst>
              <a:path h="2756162" w="2756162">
                <a:moveTo>
                  <a:pt x="0" y="0"/>
                </a:moveTo>
                <a:lnTo>
                  <a:pt x="2756162" y="0"/>
                </a:lnTo>
                <a:lnTo>
                  <a:pt x="2756162" y="2756162"/>
                </a:lnTo>
                <a:lnTo>
                  <a:pt x="0" y="27561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6883647" y="1400595"/>
            <a:ext cx="751306" cy="1116807"/>
          </a:xfrm>
          <a:custGeom>
            <a:avLst/>
            <a:gdLst/>
            <a:ahLst/>
            <a:cxnLst/>
            <a:rect r="r" b="b" t="t" l="l"/>
            <a:pathLst>
              <a:path h="1116807" w="751306">
                <a:moveTo>
                  <a:pt x="0" y="0"/>
                </a:moveTo>
                <a:lnTo>
                  <a:pt x="751306" y="0"/>
                </a:lnTo>
                <a:lnTo>
                  <a:pt x="751306" y="1116807"/>
                </a:lnTo>
                <a:lnTo>
                  <a:pt x="0" y="11168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974901" y="-428439"/>
            <a:ext cx="576445" cy="856878"/>
          </a:xfrm>
          <a:custGeom>
            <a:avLst/>
            <a:gdLst/>
            <a:ahLst/>
            <a:cxnLst/>
            <a:rect r="r" b="b" t="t" l="l"/>
            <a:pathLst>
              <a:path h="856878" w="576445">
                <a:moveTo>
                  <a:pt x="0" y="0"/>
                </a:moveTo>
                <a:lnTo>
                  <a:pt x="576445" y="0"/>
                </a:lnTo>
                <a:lnTo>
                  <a:pt x="576445" y="856878"/>
                </a:lnTo>
                <a:lnTo>
                  <a:pt x="0" y="8568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60823" y="2667592"/>
            <a:ext cx="3027516" cy="5325253"/>
            <a:chOff x="0" y="0"/>
            <a:chExt cx="797370" cy="14025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7370" cy="1402536"/>
            </a:xfrm>
            <a:custGeom>
              <a:avLst/>
              <a:gdLst/>
              <a:ahLst/>
              <a:cxnLst/>
              <a:rect r="r" b="b" t="t" l="l"/>
              <a:pathLst>
                <a:path h="1402536" w="797370">
                  <a:moveTo>
                    <a:pt x="127859" y="0"/>
                  </a:moveTo>
                  <a:lnTo>
                    <a:pt x="669511" y="0"/>
                  </a:lnTo>
                  <a:cubicBezTo>
                    <a:pt x="703422" y="0"/>
                    <a:pt x="735943" y="13471"/>
                    <a:pt x="759921" y="37449"/>
                  </a:cubicBezTo>
                  <a:cubicBezTo>
                    <a:pt x="783900" y="61427"/>
                    <a:pt x="797370" y="93949"/>
                    <a:pt x="797370" y="127859"/>
                  </a:cubicBezTo>
                  <a:lnTo>
                    <a:pt x="797370" y="1274677"/>
                  </a:lnTo>
                  <a:cubicBezTo>
                    <a:pt x="797370" y="1308587"/>
                    <a:pt x="783900" y="1341109"/>
                    <a:pt x="759921" y="1365087"/>
                  </a:cubicBezTo>
                  <a:cubicBezTo>
                    <a:pt x="735943" y="1389065"/>
                    <a:pt x="703422" y="1402536"/>
                    <a:pt x="669511" y="1402536"/>
                  </a:cubicBezTo>
                  <a:lnTo>
                    <a:pt x="127859" y="1402536"/>
                  </a:lnTo>
                  <a:cubicBezTo>
                    <a:pt x="93949" y="1402536"/>
                    <a:pt x="61427" y="1389065"/>
                    <a:pt x="37449" y="1365087"/>
                  </a:cubicBezTo>
                  <a:cubicBezTo>
                    <a:pt x="13471" y="1341109"/>
                    <a:pt x="0" y="1308587"/>
                    <a:pt x="0" y="1274677"/>
                  </a:cubicBezTo>
                  <a:lnTo>
                    <a:pt x="0" y="127859"/>
                  </a:lnTo>
                  <a:cubicBezTo>
                    <a:pt x="0" y="93949"/>
                    <a:pt x="13471" y="61427"/>
                    <a:pt x="37449" y="37449"/>
                  </a:cubicBezTo>
                  <a:cubicBezTo>
                    <a:pt x="61427" y="13471"/>
                    <a:pt x="93949" y="0"/>
                    <a:pt x="127859" y="0"/>
                  </a:cubicBezTo>
                  <a:close/>
                </a:path>
              </a:pathLst>
            </a:custGeom>
            <a:solidFill>
              <a:srgbClr val="E64B1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797370" cy="1402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2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97914" y="2667592"/>
            <a:ext cx="3027516" cy="5325253"/>
            <a:chOff x="0" y="0"/>
            <a:chExt cx="797370" cy="14025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97370" cy="1402536"/>
            </a:xfrm>
            <a:custGeom>
              <a:avLst/>
              <a:gdLst/>
              <a:ahLst/>
              <a:cxnLst/>
              <a:rect r="r" b="b" t="t" l="l"/>
              <a:pathLst>
                <a:path h="1402536" w="797370">
                  <a:moveTo>
                    <a:pt x="127859" y="0"/>
                  </a:moveTo>
                  <a:lnTo>
                    <a:pt x="669511" y="0"/>
                  </a:lnTo>
                  <a:cubicBezTo>
                    <a:pt x="703422" y="0"/>
                    <a:pt x="735943" y="13471"/>
                    <a:pt x="759921" y="37449"/>
                  </a:cubicBezTo>
                  <a:cubicBezTo>
                    <a:pt x="783900" y="61427"/>
                    <a:pt x="797370" y="93949"/>
                    <a:pt x="797370" y="127859"/>
                  </a:cubicBezTo>
                  <a:lnTo>
                    <a:pt x="797370" y="1274677"/>
                  </a:lnTo>
                  <a:cubicBezTo>
                    <a:pt x="797370" y="1308587"/>
                    <a:pt x="783900" y="1341109"/>
                    <a:pt x="759921" y="1365087"/>
                  </a:cubicBezTo>
                  <a:cubicBezTo>
                    <a:pt x="735943" y="1389065"/>
                    <a:pt x="703422" y="1402536"/>
                    <a:pt x="669511" y="1402536"/>
                  </a:cubicBezTo>
                  <a:lnTo>
                    <a:pt x="127859" y="1402536"/>
                  </a:lnTo>
                  <a:cubicBezTo>
                    <a:pt x="93949" y="1402536"/>
                    <a:pt x="61427" y="1389065"/>
                    <a:pt x="37449" y="1365087"/>
                  </a:cubicBezTo>
                  <a:cubicBezTo>
                    <a:pt x="13471" y="1341109"/>
                    <a:pt x="0" y="1308587"/>
                    <a:pt x="0" y="1274677"/>
                  </a:cubicBezTo>
                  <a:lnTo>
                    <a:pt x="0" y="127859"/>
                  </a:lnTo>
                  <a:cubicBezTo>
                    <a:pt x="0" y="93949"/>
                    <a:pt x="13471" y="61427"/>
                    <a:pt x="37449" y="37449"/>
                  </a:cubicBezTo>
                  <a:cubicBezTo>
                    <a:pt x="61427" y="13471"/>
                    <a:pt x="93949" y="0"/>
                    <a:pt x="127859" y="0"/>
                  </a:cubicBezTo>
                  <a:close/>
                </a:path>
              </a:pathLst>
            </a:custGeom>
            <a:solidFill>
              <a:srgbClr val="E64B1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797370" cy="1402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2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635005" y="2667592"/>
            <a:ext cx="3027516" cy="5325253"/>
            <a:chOff x="0" y="0"/>
            <a:chExt cx="797370" cy="14025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97370" cy="1402536"/>
            </a:xfrm>
            <a:custGeom>
              <a:avLst/>
              <a:gdLst/>
              <a:ahLst/>
              <a:cxnLst/>
              <a:rect r="r" b="b" t="t" l="l"/>
              <a:pathLst>
                <a:path h="1402536" w="797370">
                  <a:moveTo>
                    <a:pt x="127859" y="0"/>
                  </a:moveTo>
                  <a:lnTo>
                    <a:pt x="669511" y="0"/>
                  </a:lnTo>
                  <a:cubicBezTo>
                    <a:pt x="703422" y="0"/>
                    <a:pt x="735943" y="13471"/>
                    <a:pt x="759921" y="37449"/>
                  </a:cubicBezTo>
                  <a:cubicBezTo>
                    <a:pt x="783900" y="61427"/>
                    <a:pt x="797370" y="93949"/>
                    <a:pt x="797370" y="127859"/>
                  </a:cubicBezTo>
                  <a:lnTo>
                    <a:pt x="797370" y="1274677"/>
                  </a:lnTo>
                  <a:cubicBezTo>
                    <a:pt x="797370" y="1308587"/>
                    <a:pt x="783900" y="1341109"/>
                    <a:pt x="759921" y="1365087"/>
                  </a:cubicBezTo>
                  <a:cubicBezTo>
                    <a:pt x="735943" y="1389065"/>
                    <a:pt x="703422" y="1402536"/>
                    <a:pt x="669511" y="1402536"/>
                  </a:cubicBezTo>
                  <a:lnTo>
                    <a:pt x="127859" y="1402536"/>
                  </a:lnTo>
                  <a:cubicBezTo>
                    <a:pt x="93949" y="1402536"/>
                    <a:pt x="61427" y="1389065"/>
                    <a:pt x="37449" y="1365087"/>
                  </a:cubicBezTo>
                  <a:cubicBezTo>
                    <a:pt x="13471" y="1341109"/>
                    <a:pt x="0" y="1308587"/>
                    <a:pt x="0" y="1274677"/>
                  </a:cubicBezTo>
                  <a:lnTo>
                    <a:pt x="0" y="127859"/>
                  </a:lnTo>
                  <a:cubicBezTo>
                    <a:pt x="0" y="93949"/>
                    <a:pt x="13471" y="61427"/>
                    <a:pt x="37449" y="37449"/>
                  </a:cubicBezTo>
                  <a:cubicBezTo>
                    <a:pt x="61427" y="13471"/>
                    <a:pt x="93949" y="0"/>
                    <a:pt x="127859" y="0"/>
                  </a:cubicBezTo>
                  <a:close/>
                </a:path>
              </a:pathLst>
            </a:custGeom>
            <a:solidFill>
              <a:srgbClr val="E64B1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797370" cy="1402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2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067333" y="2667592"/>
            <a:ext cx="3027516" cy="5325253"/>
            <a:chOff x="0" y="0"/>
            <a:chExt cx="797370" cy="14025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97370" cy="1402536"/>
            </a:xfrm>
            <a:custGeom>
              <a:avLst/>
              <a:gdLst/>
              <a:ahLst/>
              <a:cxnLst/>
              <a:rect r="r" b="b" t="t" l="l"/>
              <a:pathLst>
                <a:path h="1402536" w="797370">
                  <a:moveTo>
                    <a:pt x="127859" y="0"/>
                  </a:moveTo>
                  <a:lnTo>
                    <a:pt x="669511" y="0"/>
                  </a:lnTo>
                  <a:cubicBezTo>
                    <a:pt x="703422" y="0"/>
                    <a:pt x="735943" y="13471"/>
                    <a:pt x="759921" y="37449"/>
                  </a:cubicBezTo>
                  <a:cubicBezTo>
                    <a:pt x="783900" y="61427"/>
                    <a:pt x="797370" y="93949"/>
                    <a:pt x="797370" y="127859"/>
                  </a:cubicBezTo>
                  <a:lnTo>
                    <a:pt x="797370" y="1274677"/>
                  </a:lnTo>
                  <a:cubicBezTo>
                    <a:pt x="797370" y="1308587"/>
                    <a:pt x="783900" y="1341109"/>
                    <a:pt x="759921" y="1365087"/>
                  </a:cubicBezTo>
                  <a:cubicBezTo>
                    <a:pt x="735943" y="1389065"/>
                    <a:pt x="703422" y="1402536"/>
                    <a:pt x="669511" y="1402536"/>
                  </a:cubicBezTo>
                  <a:lnTo>
                    <a:pt x="127859" y="1402536"/>
                  </a:lnTo>
                  <a:cubicBezTo>
                    <a:pt x="93949" y="1402536"/>
                    <a:pt x="61427" y="1389065"/>
                    <a:pt x="37449" y="1365087"/>
                  </a:cubicBezTo>
                  <a:cubicBezTo>
                    <a:pt x="13471" y="1341109"/>
                    <a:pt x="0" y="1308587"/>
                    <a:pt x="0" y="1274677"/>
                  </a:cubicBezTo>
                  <a:lnTo>
                    <a:pt x="0" y="127859"/>
                  </a:lnTo>
                  <a:cubicBezTo>
                    <a:pt x="0" y="93949"/>
                    <a:pt x="13471" y="61427"/>
                    <a:pt x="37449" y="37449"/>
                  </a:cubicBezTo>
                  <a:cubicBezTo>
                    <a:pt x="61427" y="13471"/>
                    <a:pt x="93949" y="0"/>
                    <a:pt x="127859" y="0"/>
                  </a:cubicBezTo>
                  <a:close/>
                </a:path>
              </a:pathLst>
            </a:custGeom>
            <a:solidFill>
              <a:srgbClr val="E64B1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797370" cy="1402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2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499661" y="2667592"/>
            <a:ext cx="3027516" cy="5325253"/>
            <a:chOff x="0" y="0"/>
            <a:chExt cx="797370" cy="14025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97370" cy="1402536"/>
            </a:xfrm>
            <a:custGeom>
              <a:avLst/>
              <a:gdLst/>
              <a:ahLst/>
              <a:cxnLst/>
              <a:rect r="r" b="b" t="t" l="l"/>
              <a:pathLst>
                <a:path h="1402536" w="797370">
                  <a:moveTo>
                    <a:pt x="127859" y="0"/>
                  </a:moveTo>
                  <a:lnTo>
                    <a:pt x="669511" y="0"/>
                  </a:lnTo>
                  <a:cubicBezTo>
                    <a:pt x="703422" y="0"/>
                    <a:pt x="735943" y="13471"/>
                    <a:pt x="759921" y="37449"/>
                  </a:cubicBezTo>
                  <a:cubicBezTo>
                    <a:pt x="783900" y="61427"/>
                    <a:pt x="797370" y="93949"/>
                    <a:pt x="797370" y="127859"/>
                  </a:cubicBezTo>
                  <a:lnTo>
                    <a:pt x="797370" y="1274677"/>
                  </a:lnTo>
                  <a:cubicBezTo>
                    <a:pt x="797370" y="1308587"/>
                    <a:pt x="783900" y="1341109"/>
                    <a:pt x="759921" y="1365087"/>
                  </a:cubicBezTo>
                  <a:cubicBezTo>
                    <a:pt x="735943" y="1389065"/>
                    <a:pt x="703422" y="1402536"/>
                    <a:pt x="669511" y="1402536"/>
                  </a:cubicBezTo>
                  <a:lnTo>
                    <a:pt x="127859" y="1402536"/>
                  </a:lnTo>
                  <a:cubicBezTo>
                    <a:pt x="93949" y="1402536"/>
                    <a:pt x="61427" y="1389065"/>
                    <a:pt x="37449" y="1365087"/>
                  </a:cubicBezTo>
                  <a:cubicBezTo>
                    <a:pt x="13471" y="1341109"/>
                    <a:pt x="0" y="1308587"/>
                    <a:pt x="0" y="1274677"/>
                  </a:cubicBezTo>
                  <a:lnTo>
                    <a:pt x="0" y="127859"/>
                  </a:lnTo>
                  <a:cubicBezTo>
                    <a:pt x="0" y="93949"/>
                    <a:pt x="13471" y="61427"/>
                    <a:pt x="37449" y="37449"/>
                  </a:cubicBezTo>
                  <a:cubicBezTo>
                    <a:pt x="61427" y="13471"/>
                    <a:pt x="93949" y="0"/>
                    <a:pt x="127859" y="0"/>
                  </a:cubicBezTo>
                  <a:close/>
                </a:path>
              </a:pathLst>
            </a:custGeom>
            <a:solidFill>
              <a:srgbClr val="E64B1A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797370" cy="1402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2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4599133" y="4121543"/>
            <a:ext cx="2224757" cy="1877138"/>
          </a:xfrm>
          <a:custGeom>
            <a:avLst/>
            <a:gdLst/>
            <a:ahLst/>
            <a:cxnLst/>
            <a:rect r="r" b="b" t="t" l="l"/>
            <a:pathLst>
              <a:path h="1877138" w="2224757">
                <a:moveTo>
                  <a:pt x="0" y="0"/>
                </a:moveTo>
                <a:lnTo>
                  <a:pt x="2224757" y="0"/>
                </a:lnTo>
                <a:lnTo>
                  <a:pt x="2224757" y="1877138"/>
                </a:lnTo>
                <a:lnTo>
                  <a:pt x="0" y="18771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065772" y="3787774"/>
            <a:ext cx="2165981" cy="2390048"/>
          </a:xfrm>
          <a:custGeom>
            <a:avLst/>
            <a:gdLst/>
            <a:ahLst/>
            <a:cxnLst/>
            <a:rect r="r" b="b" t="t" l="l"/>
            <a:pathLst>
              <a:path h="2390048" w="2165981">
                <a:moveTo>
                  <a:pt x="0" y="0"/>
                </a:moveTo>
                <a:lnTo>
                  <a:pt x="2165981" y="0"/>
                </a:lnTo>
                <a:lnTo>
                  <a:pt x="2165981" y="2390048"/>
                </a:lnTo>
                <a:lnTo>
                  <a:pt x="0" y="23900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82579" t="-16822" r="-83498" b="-18814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514294" y="4002840"/>
            <a:ext cx="2133593" cy="2133593"/>
          </a:xfrm>
          <a:custGeom>
            <a:avLst/>
            <a:gdLst/>
            <a:ahLst/>
            <a:cxnLst/>
            <a:rect r="r" b="b" t="t" l="l"/>
            <a:pathLst>
              <a:path h="2133593" w="2133593">
                <a:moveTo>
                  <a:pt x="0" y="0"/>
                </a:moveTo>
                <a:lnTo>
                  <a:pt x="2133593" y="0"/>
                </a:lnTo>
                <a:lnTo>
                  <a:pt x="2133593" y="2133593"/>
                </a:lnTo>
                <a:lnTo>
                  <a:pt x="0" y="21335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4993258" y="4002840"/>
            <a:ext cx="2040322" cy="1974012"/>
          </a:xfrm>
          <a:custGeom>
            <a:avLst/>
            <a:gdLst/>
            <a:ahLst/>
            <a:cxnLst/>
            <a:rect r="r" b="b" t="t" l="l"/>
            <a:pathLst>
              <a:path h="1974012" w="2040322">
                <a:moveTo>
                  <a:pt x="0" y="0"/>
                </a:moveTo>
                <a:lnTo>
                  <a:pt x="2040322" y="0"/>
                </a:lnTo>
                <a:lnTo>
                  <a:pt x="2040322" y="1974012"/>
                </a:lnTo>
                <a:lnTo>
                  <a:pt x="0" y="197401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489155" y="3364533"/>
            <a:ext cx="1621589" cy="3391157"/>
          </a:xfrm>
          <a:custGeom>
            <a:avLst/>
            <a:gdLst/>
            <a:ahLst/>
            <a:cxnLst/>
            <a:rect r="r" b="b" t="t" l="l"/>
            <a:pathLst>
              <a:path h="3391157" w="1621589">
                <a:moveTo>
                  <a:pt x="0" y="0"/>
                </a:moveTo>
                <a:lnTo>
                  <a:pt x="1621589" y="0"/>
                </a:lnTo>
                <a:lnTo>
                  <a:pt x="1621589" y="3391157"/>
                </a:lnTo>
                <a:lnTo>
                  <a:pt x="0" y="339115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7861976" y="6989458"/>
            <a:ext cx="2573254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sz="3000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Généra</a:t>
            </a:r>
            <a:r>
              <a:rPr lang="en-US" sz="3000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tion de la requête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0288106" y="7598784"/>
            <a:ext cx="635723" cy="635723"/>
          </a:xfrm>
          <a:custGeom>
            <a:avLst/>
            <a:gdLst/>
            <a:ahLst/>
            <a:cxnLst/>
            <a:rect r="r" b="b" t="t" l="l"/>
            <a:pathLst>
              <a:path h="635723" w="635723">
                <a:moveTo>
                  <a:pt x="0" y="0"/>
                </a:moveTo>
                <a:lnTo>
                  <a:pt x="635723" y="0"/>
                </a:lnTo>
                <a:lnTo>
                  <a:pt x="635723" y="635724"/>
                </a:lnTo>
                <a:lnTo>
                  <a:pt x="0" y="63572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993258" y="8591057"/>
            <a:ext cx="1309210" cy="1309210"/>
          </a:xfrm>
          <a:custGeom>
            <a:avLst/>
            <a:gdLst/>
            <a:ahLst/>
            <a:cxnLst/>
            <a:rect r="r" b="b" t="t" l="l"/>
            <a:pathLst>
              <a:path h="1309210" w="1309210">
                <a:moveTo>
                  <a:pt x="0" y="0"/>
                </a:moveTo>
                <a:lnTo>
                  <a:pt x="1309210" y="0"/>
                </a:lnTo>
                <a:lnTo>
                  <a:pt x="1309210" y="1309211"/>
                </a:lnTo>
                <a:lnTo>
                  <a:pt x="0" y="1309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3429681" y="4074273"/>
            <a:ext cx="995364" cy="908525"/>
            <a:chOff x="0" y="0"/>
            <a:chExt cx="812800" cy="74188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741889"/>
            </a:xfrm>
            <a:custGeom>
              <a:avLst/>
              <a:gdLst/>
              <a:ahLst/>
              <a:cxnLst/>
              <a:rect r="r" b="b" t="t" l="l"/>
              <a:pathLst>
                <a:path h="741889" w="812800">
                  <a:moveTo>
                    <a:pt x="812800" y="370944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538689"/>
                  </a:lnTo>
                  <a:lnTo>
                    <a:pt x="406400" y="538689"/>
                  </a:lnTo>
                  <a:lnTo>
                    <a:pt x="406400" y="741889"/>
                  </a:lnTo>
                  <a:lnTo>
                    <a:pt x="812800" y="370944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4D1FC4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203200"/>
              <a:ext cx="711200" cy="335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2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491957" y="1200150"/>
            <a:ext cx="5304087" cy="9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55"/>
              </a:lnSpc>
              <a:spcBef>
                <a:spcPct val="0"/>
              </a:spcBef>
            </a:pPr>
            <a:r>
              <a:rPr lang="en-US" b="true" sz="7186" spc="-359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Architecture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19480" y="2877996"/>
            <a:ext cx="2310201" cy="486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3"/>
              </a:lnSpc>
            </a:pPr>
            <a:r>
              <a:rPr lang="en-US" b="true" sz="3399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Utilisateur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556571" y="2877996"/>
            <a:ext cx="2310201" cy="486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3"/>
              </a:lnSpc>
            </a:pPr>
            <a:r>
              <a:rPr lang="en-US" b="true" sz="3399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NLP Simple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996955" y="2877996"/>
            <a:ext cx="2310201" cy="486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3"/>
              </a:lnSpc>
            </a:pPr>
            <a:r>
              <a:rPr lang="en-US" b="true" sz="3399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SPARQL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429283" y="2877996"/>
            <a:ext cx="2310201" cy="486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3"/>
              </a:lnSpc>
            </a:pPr>
            <a:r>
              <a:rPr lang="en-US" b="true" sz="3399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Graphe RDF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861611" y="2877996"/>
            <a:ext cx="2310201" cy="486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3"/>
              </a:lnSpc>
            </a:pPr>
            <a:r>
              <a:rPr lang="en-US" b="true" sz="3399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Réponse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87954" y="6989458"/>
            <a:ext cx="2573254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90"/>
              </a:lnSpc>
            </a:pPr>
            <a:r>
              <a:rPr lang="en-US" sz="3000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Q</a:t>
            </a:r>
            <a:r>
              <a:rPr lang="en-US" sz="3000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uestion en langage naturel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425045" y="6989458"/>
            <a:ext cx="2573254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sz="3000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Extrac</a:t>
            </a:r>
            <a:r>
              <a:rPr lang="en-US" sz="3000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tion de mots-clés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294144" y="6989458"/>
            <a:ext cx="2573254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sz="3000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Base</a:t>
            </a:r>
            <a:r>
              <a:rPr lang="en-US" sz="3000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 de connaissances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726312" y="6989458"/>
            <a:ext cx="2573254" cy="80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sz="3000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Résulta</a:t>
            </a:r>
            <a:r>
              <a:rPr lang="en-US" sz="3000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t affiché en console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7001591" y="4074273"/>
            <a:ext cx="995364" cy="908525"/>
            <a:chOff x="0" y="0"/>
            <a:chExt cx="812800" cy="74188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741889"/>
            </a:xfrm>
            <a:custGeom>
              <a:avLst/>
              <a:gdLst/>
              <a:ahLst/>
              <a:cxnLst/>
              <a:rect r="r" b="b" t="t" l="l"/>
              <a:pathLst>
                <a:path h="741889" w="812800">
                  <a:moveTo>
                    <a:pt x="812800" y="370944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538689"/>
                  </a:lnTo>
                  <a:lnTo>
                    <a:pt x="406400" y="538689"/>
                  </a:lnTo>
                  <a:lnTo>
                    <a:pt x="406400" y="741889"/>
                  </a:lnTo>
                  <a:lnTo>
                    <a:pt x="812800" y="370944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4D1FC4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203200"/>
              <a:ext cx="711200" cy="335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2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435229" y="4074273"/>
            <a:ext cx="995364" cy="908525"/>
            <a:chOff x="0" y="0"/>
            <a:chExt cx="812800" cy="74188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741889"/>
            </a:xfrm>
            <a:custGeom>
              <a:avLst/>
              <a:gdLst/>
              <a:ahLst/>
              <a:cxnLst/>
              <a:rect r="r" b="b" t="t" l="l"/>
              <a:pathLst>
                <a:path h="741889" w="812800">
                  <a:moveTo>
                    <a:pt x="812800" y="370944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538689"/>
                  </a:lnTo>
                  <a:lnTo>
                    <a:pt x="406400" y="538689"/>
                  </a:lnTo>
                  <a:lnTo>
                    <a:pt x="406400" y="741889"/>
                  </a:lnTo>
                  <a:lnTo>
                    <a:pt x="812800" y="370944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4D1FC4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203200"/>
              <a:ext cx="711200" cy="335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2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867398" y="4074273"/>
            <a:ext cx="995364" cy="908525"/>
            <a:chOff x="0" y="0"/>
            <a:chExt cx="812800" cy="74188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741889"/>
            </a:xfrm>
            <a:custGeom>
              <a:avLst/>
              <a:gdLst/>
              <a:ahLst/>
              <a:cxnLst/>
              <a:rect r="r" b="b" t="t" l="l"/>
              <a:pathLst>
                <a:path h="741889" w="812800">
                  <a:moveTo>
                    <a:pt x="812800" y="370944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538689"/>
                  </a:lnTo>
                  <a:lnTo>
                    <a:pt x="406400" y="538689"/>
                  </a:lnTo>
                  <a:lnTo>
                    <a:pt x="406400" y="741889"/>
                  </a:lnTo>
                  <a:lnTo>
                    <a:pt x="812800" y="370944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4D1FC4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203200"/>
              <a:ext cx="711200" cy="335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2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71191" y="3796979"/>
            <a:ext cx="6868497" cy="2109484"/>
            <a:chOff x="0" y="0"/>
            <a:chExt cx="1808987" cy="5555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08987" cy="555584"/>
            </a:xfrm>
            <a:custGeom>
              <a:avLst/>
              <a:gdLst/>
              <a:ahLst/>
              <a:cxnLst/>
              <a:rect r="r" b="b" t="t" l="l"/>
              <a:pathLst>
                <a:path h="555584" w="1808987">
                  <a:moveTo>
                    <a:pt x="112716" y="0"/>
                  </a:moveTo>
                  <a:lnTo>
                    <a:pt x="1696270" y="0"/>
                  </a:lnTo>
                  <a:cubicBezTo>
                    <a:pt x="1726165" y="0"/>
                    <a:pt x="1754835" y="11875"/>
                    <a:pt x="1775973" y="33014"/>
                  </a:cubicBezTo>
                  <a:cubicBezTo>
                    <a:pt x="1797111" y="54152"/>
                    <a:pt x="1808987" y="82822"/>
                    <a:pt x="1808987" y="112716"/>
                  </a:cubicBezTo>
                  <a:lnTo>
                    <a:pt x="1808987" y="442868"/>
                  </a:lnTo>
                  <a:cubicBezTo>
                    <a:pt x="1808987" y="472762"/>
                    <a:pt x="1797111" y="501432"/>
                    <a:pt x="1775973" y="522570"/>
                  </a:cubicBezTo>
                  <a:cubicBezTo>
                    <a:pt x="1754835" y="543709"/>
                    <a:pt x="1726165" y="555584"/>
                    <a:pt x="1696270" y="555584"/>
                  </a:cubicBezTo>
                  <a:lnTo>
                    <a:pt x="112716" y="555584"/>
                  </a:lnTo>
                  <a:cubicBezTo>
                    <a:pt x="82822" y="555584"/>
                    <a:pt x="54152" y="543709"/>
                    <a:pt x="33014" y="522570"/>
                  </a:cubicBezTo>
                  <a:cubicBezTo>
                    <a:pt x="11875" y="501432"/>
                    <a:pt x="0" y="472762"/>
                    <a:pt x="0" y="442868"/>
                  </a:cubicBezTo>
                  <a:lnTo>
                    <a:pt x="0" y="112716"/>
                  </a:lnTo>
                  <a:cubicBezTo>
                    <a:pt x="0" y="82822"/>
                    <a:pt x="11875" y="54152"/>
                    <a:pt x="33014" y="33014"/>
                  </a:cubicBezTo>
                  <a:cubicBezTo>
                    <a:pt x="54152" y="11875"/>
                    <a:pt x="82822" y="0"/>
                    <a:pt x="11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715C4">
                    <a:alpha val="100000"/>
                  </a:srgbClr>
                </a:gs>
                <a:gs pos="100000">
                  <a:srgbClr val="1531C3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9050" cap="rnd">
              <a:solidFill>
                <a:srgbClr val="1B0A6B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808987" cy="555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71191" y="6744663"/>
            <a:ext cx="6868497" cy="2109484"/>
            <a:chOff x="0" y="0"/>
            <a:chExt cx="1808987" cy="5555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08987" cy="555584"/>
            </a:xfrm>
            <a:custGeom>
              <a:avLst/>
              <a:gdLst/>
              <a:ahLst/>
              <a:cxnLst/>
              <a:rect r="r" b="b" t="t" l="l"/>
              <a:pathLst>
                <a:path h="555584" w="1808987">
                  <a:moveTo>
                    <a:pt x="112716" y="0"/>
                  </a:moveTo>
                  <a:lnTo>
                    <a:pt x="1696270" y="0"/>
                  </a:lnTo>
                  <a:cubicBezTo>
                    <a:pt x="1726165" y="0"/>
                    <a:pt x="1754835" y="11875"/>
                    <a:pt x="1775973" y="33014"/>
                  </a:cubicBezTo>
                  <a:cubicBezTo>
                    <a:pt x="1797111" y="54152"/>
                    <a:pt x="1808987" y="82822"/>
                    <a:pt x="1808987" y="112716"/>
                  </a:cubicBezTo>
                  <a:lnTo>
                    <a:pt x="1808987" y="442868"/>
                  </a:lnTo>
                  <a:cubicBezTo>
                    <a:pt x="1808987" y="472762"/>
                    <a:pt x="1797111" y="501432"/>
                    <a:pt x="1775973" y="522570"/>
                  </a:cubicBezTo>
                  <a:cubicBezTo>
                    <a:pt x="1754835" y="543709"/>
                    <a:pt x="1726165" y="555584"/>
                    <a:pt x="1696270" y="555584"/>
                  </a:cubicBezTo>
                  <a:lnTo>
                    <a:pt x="112716" y="555584"/>
                  </a:lnTo>
                  <a:cubicBezTo>
                    <a:pt x="82822" y="555584"/>
                    <a:pt x="54152" y="543709"/>
                    <a:pt x="33014" y="522570"/>
                  </a:cubicBezTo>
                  <a:cubicBezTo>
                    <a:pt x="11875" y="501432"/>
                    <a:pt x="0" y="472762"/>
                    <a:pt x="0" y="442868"/>
                  </a:cubicBezTo>
                  <a:lnTo>
                    <a:pt x="0" y="112716"/>
                  </a:lnTo>
                  <a:cubicBezTo>
                    <a:pt x="0" y="82822"/>
                    <a:pt x="11875" y="54152"/>
                    <a:pt x="33014" y="33014"/>
                  </a:cubicBezTo>
                  <a:cubicBezTo>
                    <a:pt x="54152" y="11875"/>
                    <a:pt x="82822" y="0"/>
                    <a:pt x="11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715C4">
                    <a:alpha val="100000"/>
                  </a:srgbClr>
                </a:gs>
                <a:gs pos="100000">
                  <a:srgbClr val="1531C3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9050" cap="rnd">
              <a:solidFill>
                <a:srgbClr val="1B0A6B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08987" cy="555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48312" y="3796979"/>
            <a:ext cx="6868497" cy="2109484"/>
            <a:chOff x="0" y="0"/>
            <a:chExt cx="1808987" cy="5555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08987" cy="555584"/>
            </a:xfrm>
            <a:custGeom>
              <a:avLst/>
              <a:gdLst/>
              <a:ahLst/>
              <a:cxnLst/>
              <a:rect r="r" b="b" t="t" l="l"/>
              <a:pathLst>
                <a:path h="555584" w="1808987">
                  <a:moveTo>
                    <a:pt x="112716" y="0"/>
                  </a:moveTo>
                  <a:lnTo>
                    <a:pt x="1696270" y="0"/>
                  </a:lnTo>
                  <a:cubicBezTo>
                    <a:pt x="1726165" y="0"/>
                    <a:pt x="1754835" y="11875"/>
                    <a:pt x="1775973" y="33014"/>
                  </a:cubicBezTo>
                  <a:cubicBezTo>
                    <a:pt x="1797111" y="54152"/>
                    <a:pt x="1808987" y="82822"/>
                    <a:pt x="1808987" y="112716"/>
                  </a:cubicBezTo>
                  <a:lnTo>
                    <a:pt x="1808987" y="442868"/>
                  </a:lnTo>
                  <a:cubicBezTo>
                    <a:pt x="1808987" y="472762"/>
                    <a:pt x="1797111" y="501432"/>
                    <a:pt x="1775973" y="522570"/>
                  </a:cubicBezTo>
                  <a:cubicBezTo>
                    <a:pt x="1754835" y="543709"/>
                    <a:pt x="1726165" y="555584"/>
                    <a:pt x="1696270" y="555584"/>
                  </a:cubicBezTo>
                  <a:lnTo>
                    <a:pt x="112716" y="555584"/>
                  </a:lnTo>
                  <a:cubicBezTo>
                    <a:pt x="82822" y="555584"/>
                    <a:pt x="54152" y="543709"/>
                    <a:pt x="33014" y="522570"/>
                  </a:cubicBezTo>
                  <a:cubicBezTo>
                    <a:pt x="11875" y="501432"/>
                    <a:pt x="0" y="472762"/>
                    <a:pt x="0" y="442868"/>
                  </a:cubicBezTo>
                  <a:lnTo>
                    <a:pt x="0" y="112716"/>
                  </a:lnTo>
                  <a:cubicBezTo>
                    <a:pt x="0" y="82822"/>
                    <a:pt x="11875" y="54152"/>
                    <a:pt x="33014" y="33014"/>
                  </a:cubicBezTo>
                  <a:cubicBezTo>
                    <a:pt x="54152" y="11875"/>
                    <a:pt x="82822" y="0"/>
                    <a:pt x="11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715C4">
                    <a:alpha val="100000"/>
                  </a:srgbClr>
                </a:gs>
                <a:gs pos="100000">
                  <a:srgbClr val="1531C3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9050" cap="rnd">
              <a:solidFill>
                <a:srgbClr val="1B0A6B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808987" cy="555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2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48312" y="6744663"/>
            <a:ext cx="6868497" cy="2109484"/>
            <a:chOff x="0" y="0"/>
            <a:chExt cx="1808987" cy="5555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08987" cy="555584"/>
            </a:xfrm>
            <a:custGeom>
              <a:avLst/>
              <a:gdLst/>
              <a:ahLst/>
              <a:cxnLst/>
              <a:rect r="r" b="b" t="t" l="l"/>
              <a:pathLst>
                <a:path h="555584" w="1808987">
                  <a:moveTo>
                    <a:pt x="112716" y="0"/>
                  </a:moveTo>
                  <a:lnTo>
                    <a:pt x="1696270" y="0"/>
                  </a:lnTo>
                  <a:cubicBezTo>
                    <a:pt x="1726165" y="0"/>
                    <a:pt x="1754835" y="11875"/>
                    <a:pt x="1775973" y="33014"/>
                  </a:cubicBezTo>
                  <a:cubicBezTo>
                    <a:pt x="1797111" y="54152"/>
                    <a:pt x="1808987" y="82822"/>
                    <a:pt x="1808987" y="112716"/>
                  </a:cubicBezTo>
                  <a:lnTo>
                    <a:pt x="1808987" y="442868"/>
                  </a:lnTo>
                  <a:cubicBezTo>
                    <a:pt x="1808987" y="472762"/>
                    <a:pt x="1797111" y="501432"/>
                    <a:pt x="1775973" y="522570"/>
                  </a:cubicBezTo>
                  <a:cubicBezTo>
                    <a:pt x="1754835" y="543709"/>
                    <a:pt x="1726165" y="555584"/>
                    <a:pt x="1696270" y="555584"/>
                  </a:cubicBezTo>
                  <a:lnTo>
                    <a:pt x="112716" y="555584"/>
                  </a:lnTo>
                  <a:cubicBezTo>
                    <a:pt x="82822" y="555584"/>
                    <a:pt x="54152" y="543709"/>
                    <a:pt x="33014" y="522570"/>
                  </a:cubicBezTo>
                  <a:cubicBezTo>
                    <a:pt x="11875" y="501432"/>
                    <a:pt x="0" y="472762"/>
                    <a:pt x="0" y="442868"/>
                  </a:cubicBezTo>
                  <a:lnTo>
                    <a:pt x="0" y="112716"/>
                  </a:lnTo>
                  <a:cubicBezTo>
                    <a:pt x="0" y="82822"/>
                    <a:pt x="11875" y="54152"/>
                    <a:pt x="33014" y="33014"/>
                  </a:cubicBezTo>
                  <a:cubicBezTo>
                    <a:pt x="54152" y="11875"/>
                    <a:pt x="82822" y="0"/>
                    <a:pt x="1127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715C4">
                    <a:alpha val="100000"/>
                  </a:srgbClr>
                </a:gs>
                <a:gs pos="100000">
                  <a:srgbClr val="1531C3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9050" cap="rnd">
              <a:solidFill>
                <a:srgbClr val="1B0A6B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808987" cy="555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2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-5400000">
            <a:off x="5007356" y="4041433"/>
            <a:ext cx="350409" cy="406861"/>
          </a:xfrm>
          <a:custGeom>
            <a:avLst/>
            <a:gdLst/>
            <a:ahLst/>
            <a:cxnLst/>
            <a:rect r="r" b="b" t="t" l="l"/>
            <a:pathLst>
              <a:path h="406861" w="350409">
                <a:moveTo>
                  <a:pt x="0" y="0"/>
                </a:moveTo>
                <a:lnTo>
                  <a:pt x="350409" y="0"/>
                </a:lnTo>
                <a:lnTo>
                  <a:pt x="350409" y="406861"/>
                </a:lnTo>
                <a:lnTo>
                  <a:pt x="0" y="406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-5400000">
            <a:off x="5007356" y="6989117"/>
            <a:ext cx="350409" cy="406861"/>
          </a:xfrm>
          <a:custGeom>
            <a:avLst/>
            <a:gdLst/>
            <a:ahLst/>
            <a:cxnLst/>
            <a:rect r="r" b="b" t="t" l="l"/>
            <a:pathLst>
              <a:path h="406861" w="350409">
                <a:moveTo>
                  <a:pt x="0" y="0"/>
                </a:moveTo>
                <a:lnTo>
                  <a:pt x="350409" y="0"/>
                </a:lnTo>
                <a:lnTo>
                  <a:pt x="350409" y="406861"/>
                </a:lnTo>
                <a:lnTo>
                  <a:pt x="0" y="406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-5400000">
            <a:off x="12930235" y="4041433"/>
            <a:ext cx="350409" cy="406861"/>
          </a:xfrm>
          <a:custGeom>
            <a:avLst/>
            <a:gdLst/>
            <a:ahLst/>
            <a:cxnLst/>
            <a:rect r="r" b="b" t="t" l="l"/>
            <a:pathLst>
              <a:path h="406861" w="350409">
                <a:moveTo>
                  <a:pt x="0" y="0"/>
                </a:moveTo>
                <a:lnTo>
                  <a:pt x="350409" y="0"/>
                </a:lnTo>
                <a:lnTo>
                  <a:pt x="350409" y="406861"/>
                </a:lnTo>
                <a:lnTo>
                  <a:pt x="0" y="406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-5400000">
            <a:off x="12930235" y="6989117"/>
            <a:ext cx="350409" cy="406861"/>
          </a:xfrm>
          <a:custGeom>
            <a:avLst/>
            <a:gdLst/>
            <a:ahLst/>
            <a:cxnLst/>
            <a:rect r="r" b="b" t="t" l="l"/>
            <a:pathLst>
              <a:path h="406861" w="350409">
                <a:moveTo>
                  <a:pt x="0" y="0"/>
                </a:moveTo>
                <a:lnTo>
                  <a:pt x="350409" y="0"/>
                </a:lnTo>
                <a:lnTo>
                  <a:pt x="350409" y="406861"/>
                </a:lnTo>
                <a:lnTo>
                  <a:pt x="0" y="406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8" id="18"/>
          <p:cNvSpPr txBox="true"/>
          <p:nvPr/>
        </p:nvSpPr>
        <p:spPr>
          <a:xfrm rot="0">
            <a:off x="5987671" y="1200150"/>
            <a:ext cx="6312659" cy="1780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55"/>
              </a:lnSpc>
              <a:spcBef>
                <a:spcPct val="0"/>
              </a:spcBef>
            </a:pPr>
            <a:r>
              <a:rPr lang="en-US" b="true" sz="7186" spc="-359">
                <a:solidFill>
                  <a:srgbClr val="1B0A6B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Ontologie utilisée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5709617" y="-774842"/>
            <a:ext cx="1549683" cy="1549683"/>
          </a:xfrm>
          <a:custGeom>
            <a:avLst/>
            <a:gdLst/>
            <a:ahLst/>
            <a:cxnLst/>
            <a:rect r="r" b="b" t="t" l="l"/>
            <a:pathLst>
              <a:path h="1549683" w="1549683">
                <a:moveTo>
                  <a:pt x="0" y="0"/>
                </a:moveTo>
                <a:lnTo>
                  <a:pt x="1549683" y="0"/>
                </a:lnTo>
                <a:lnTo>
                  <a:pt x="1549683" y="1549684"/>
                </a:lnTo>
                <a:lnTo>
                  <a:pt x="0" y="15496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30216" y="9512158"/>
            <a:ext cx="1549683" cy="1549683"/>
          </a:xfrm>
          <a:custGeom>
            <a:avLst/>
            <a:gdLst/>
            <a:ahLst/>
            <a:cxnLst/>
            <a:rect r="r" b="b" t="t" l="l"/>
            <a:pathLst>
              <a:path h="1549683" w="1549683">
                <a:moveTo>
                  <a:pt x="0" y="0"/>
                </a:moveTo>
                <a:lnTo>
                  <a:pt x="1549684" y="0"/>
                </a:lnTo>
                <a:lnTo>
                  <a:pt x="1549684" y="1549684"/>
                </a:lnTo>
                <a:lnTo>
                  <a:pt x="0" y="15496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5400000">
            <a:off x="-428439" y="820270"/>
            <a:ext cx="856878" cy="1273738"/>
          </a:xfrm>
          <a:custGeom>
            <a:avLst/>
            <a:gdLst/>
            <a:ahLst/>
            <a:cxnLst/>
            <a:rect r="r" b="b" t="t" l="l"/>
            <a:pathLst>
              <a:path h="1273738" w="856878">
                <a:moveTo>
                  <a:pt x="0" y="0"/>
                </a:moveTo>
                <a:lnTo>
                  <a:pt x="856878" y="0"/>
                </a:lnTo>
                <a:lnTo>
                  <a:pt x="856878" y="1273738"/>
                </a:lnTo>
                <a:lnTo>
                  <a:pt x="0" y="12737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5400000">
            <a:off x="17859561" y="8192992"/>
            <a:ext cx="856878" cy="1273738"/>
          </a:xfrm>
          <a:custGeom>
            <a:avLst/>
            <a:gdLst/>
            <a:ahLst/>
            <a:cxnLst/>
            <a:rect r="r" b="b" t="t" l="l"/>
            <a:pathLst>
              <a:path h="1273738" w="856878">
                <a:moveTo>
                  <a:pt x="0" y="0"/>
                </a:moveTo>
                <a:lnTo>
                  <a:pt x="856878" y="0"/>
                </a:lnTo>
                <a:lnTo>
                  <a:pt x="856878" y="1273738"/>
                </a:lnTo>
                <a:lnTo>
                  <a:pt x="0" y="12737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064642" y="4505793"/>
            <a:ext cx="6235837" cy="426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5"/>
              </a:lnSpc>
            </a:pPr>
            <a:r>
              <a:rPr lang="en-US" b="true" sz="3399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</a:t>
            </a:r>
            <a:r>
              <a:rPr lang="en-US" b="true" sz="3399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ntologie du domaine médical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328237" y="4999061"/>
            <a:ext cx="5708646" cy="692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1"/>
              </a:lnSpc>
            </a:pPr>
            <a:r>
              <a:rPr lang="en-US" sz="27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R</a:t>
            </a:r>
            <a:r>
              <a:rPr lang="en-US" sz="27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eprésentation OWL/RDF du domaine de la santé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87521" y="4505793"/>
            <a:ext cx="6235837" cy="426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5"/>
              </a:lnSpc>
            </a:pPr>
            <a:r>
              <a:rPr lang="en-US" b="true" sz="3399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</a:t>
            </a:r>
            <a:r>
              <a:rPr lang="en-US" b="true" sz="3399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oncepts clés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51116" y="4999061"/>
            <a:ext cx="5708646" cy="359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1"/>
              </a:lnSpc>
            </a:pPr>
            <a:r>
              <a:rPr lang="en-US" sz="27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M</a:t>
            </a:r>
            <a:r>
              <a:rPr lang="en-US" sz="27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édecin, Patient, Hôpital, Spécialité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64642" y="7579372"/>
            <a:ext cx="6235837" cy="426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5"/>
              </a:lnSpc>
            </a:pPr>
            <a:r>
              <a:rPr lang="en-US" b="true" sz="3399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</a:t>
            </a:r>
            <a:r>
              <a:rPr lang="en-US" b="true" sz="3399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elations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328237" y="8072640"/>
            <a:ext cx="5708646" cy="359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1"/>
              </a:lnSpc>
            </a:pPr>
            <a:r>
              <a:rPr lang="en-US" sz="27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Trav</a:t>
            </a:r>
            <a:r>
              <a:rPr lang="en-US" sz="27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ailleDans, Prescrit, Consulte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87521" y="7579372"/>
            <a:ext cx="6235837" cy="426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5"/>
              </a:lnSpc>
            </a:pPr>
            <a:r>
              <a:rPr lang="en-US" b="true" sz="3399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SPARQL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51116" y="8072640"/>
            <a:ext cx="5708646" cy="359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1"/>
              </a:lnSpc>
            </a:pPr>
            <a:r>
              <a:rPr lang="en-US" sz="27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I</a:t>
            </a:r>
            <a:r>
              <a:rPr lang="en-US" sz="27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nterrogation du graphe RDF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715C4">
                <a:alpha val="100000"/>
              </a:srgbClr>
            </a:gs>
            <a:gs pos="100000">
              <a:srgbClr val="1531C3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73107" y="2474121"/>
            <a:ext cx="8423622" cy="8423622"/>
            <a:chOff x="0" y="0"/>
            <a:chExt cx="558800" cy="55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B0A6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65100" y="155575"/>
              <a:ext cx="393700" cy="403225"/>
            </a:xfrm>
            <a:prstGeom prst="rect">
              <a:avLst/>
            </a:prstGeom>
          </p:spPr>
          <p:txBody>
            <a:bodyPr anchor="ctr" rtlCol="false" tIns="19765" lIns="19765" bIns="19765" rIns="19765"/>
            <a:lstStyle/>
            <a:p>
              <a:pPr algn="ctr">
                <a:lnSpc>
                  <a:spcPts val="76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889031" y="1575979"/>
            <a:ext cx="6398969" cy="8603656"/>
          </a:xfrm>
          <a:custGeom>
            <a:avLst/>
            <a:gdLst/>
            <a:ahLst/>
            <a:cxnLst/>
            <a:rect r="r" b="b" t="t" l="l"/>
            <a:pathLst>
              <a:path h="8603656" w="6398969">
                <a:moveTo>
                  <a:pt x="0" y="0"/>
                </a:moveTo>
                <a:lnTo>
                  <a:pt x="6398969" y="0"/>
                </a:lnTo>
                <a:lnTo>
                  <a:pt x="6398969" y="8603656"/>
                </a:lnTo>
                <a:lnTo>
                  <a:pt x="0" y="8603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762590" y="9409492"/>
            <a:ext cx="1915879" cy="1915879"/>
          </a:xfrm>
          <a:custGeom>
            <a:avLst/>
            <a:gdLst/>
            <a:ahLst/>
            <a:cxnLst/>
            <a:rect r="r" b="b" t="t" l="l"/>
            <a:pathLst>
              <a:path h="1915879" w="1915879">
                <a:moveTo>
                  <a:pt x="0" y="0"/>
                </a:moveTo>
                <a:lnTo>
                  <a:pt x="1915879" y="0"/>
                </a:lnTo>
                <a:lnTo>
                  <a:pt x="1915879" y="1915879"/>
                </a:lnTo>
                <a:lnTo>
                  <a:pt x="0" y="19158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50548" y="-821643"/>
            <a:ext cx="1643285" cy="1643285"/>
          </a:xfrm>
          <a:custGeom>
            <a:avLst/>
            <a:gdLst/>
            <a:ahLst/>
            <a:cxnLst/>
            <a:rect r="r" b="b" t="t" l="l"/>
            <a:pathLst>
              <a:path h="1643285" w="1643285">
                <a:moveTo>
                  <a:pt x="0" y="0"/>
                </a:moveTo>
                <a:lnTo>
                  <a:pt x="1643285" y="0"/>
                </a:lnTo>
                <a:lnTo>
                  <a:pt x="1643285" y="1643286"/>
                </a:lnTo>
                <a:lnTo>
                  <a:pt x="0" y="16432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575395" y="1762667"/>
            <a:ext cx="1425210" cy="1425210"/>
          </a:xfrm>
          <a:custGeom>
            <a:avLst/>
            <a:gdLst/>
            <a:ahLst/>
            <a:cxnLst/>
            <a:rect r="r" b="b" t="t" l="l"/>
            <a:pathLst>
              <a:path h="1425210" w="1425210">
                <a:moveTo>
                  <a:pt x="0" y="0"/>
                </a:moveTo>
                <a:lnTo>
                  <a:pt x="1425210" y="0"/>
                </a:lnTo>
                <a:lnTo>
                  <a:pt x="1425210" y="1425210"/>
                </a:lnTo>
                <a:lnTo>
                  <a:pt x="0" y="14252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49012" y="5502292"/>
            <a:ext cx="6918982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6C3E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Questions saisies par l’ut</a:t>
            </a:r>
            <a:r>
              <a:rPr lang="en-US" b="true" sz="2799">
                <a:solidFill>
                  <a:srgbClr val="FF6C3E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ilisateur via l’interface en ligne de commande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2345" y="3834141"/>
            <a:ext cx="4016673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FF6C3E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Questions posées 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200150"/>
            <a:ext cx="10733890" cy="92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55"/>
              </a:lnSpc>
              <a:spcBef>
                <a:spcPct val="0"/>
              </a:spcBef>
            </a:pPr>
            <a:r>
              <a:rPr lang="en-US" b="true" sz="7186" spc="-359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Exemples d’exécution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413896"/>
            <a:ext cx="9838101" cy="586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861"/>
              </a:lnSpc>
              <a:buFont typeface="Arial"/>
              <a:buChar char="•"/>
            </a:pPr>
            <a:r>
              <a:rPr lang="en-US" sz="3399" strike="noStrike" u="none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Quels sont les patients diagnostiqués COVID-19 ?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088574" y="3547071"/>
            <a:ext cx="6807628" cy="4724219"/>
          </a:xfrm>
          <a:custGeom>
            <a:avLst/>
            <a:gdLst/>
            <a:ahLst/>
            <a:cxnLst/>
            <a:rect r="r" b="b" t="t" l="l"/>
            <a:pathLst>
              <a:path h="4724219" w="6807628">
                <a:moveTo>
                  <a:pt x="0" y="0"/>
                </a:moveTo>
                <a:lnTo>
                  <a:pt x="6807627" y="0"/>
                </a:lnTo>
                <a:lnTo>
                  <a:pt x="6807627" y="4724220"/>
                </a:lnTo>
                <a:lnTo>
                  <a:pt x="0" y="47242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32345" y="7298052"/>
            <a:ext cx="6558657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FF6C3E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Autres exemples de questions 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877808"/>
            <a:ext cx="9838101" cy="1196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861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Dans q</a:t>
            </a:r>
            <a:r>
              <a:rPr lang="en-US" sz="3399" strike="noStrike" u="none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uels établissements travaille Dr Hicham ?</a:t>
            </a:r>
          </a:p>
          <a:p>
            <a:pPr algn="l" marL="734059" indent="-367030" lvl="1">
              <a:lnSpc>
                <a:spcPts val="4861"/>
              </a:lnSpc>
              <a:buFont typeface="Arial"/>
              <a:buChar char="•"/>
            </a:pPr>
            <a:r>
              <a:rPr lang="en-US" sz="3399" strike="noStrike" u="none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Quels sont les patients de Dr Aymen ?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715C4">
                <a:alpha val="100000"/>
              </a:srgbClr>
            </a:gs>
            <a:gs pos="100000">
              <a:srgbClr val="1531C3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73107" y="2474121"/>
            <a:ext cx="8423622" cy="8423622"/>
            <a:chOff x="0" y="0"/>
            <a:chExt cx="558800" cy="55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B0A6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65100" y="155575"/>
              <a:ext cx="393700" cy="403225"/>
            </a:xfrm>
            <a:prstGeom prst="rect">
              <a:avLst/>
            </a:prstGeom>
          </p:spPr>
          <p:txBody>
            <a:bodyPr anchor="ctr" rtlCol="false" tIns="19765" lIns="19765" bIns="19765" rIns="19765"/>
            <a:lstStyle/>
            <a:p>
              <a:pPr algn="ctr">
                <a:lnSpc>
                  <a:spcPts val="76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762590" y="9409492"/>
            <a:ext cx="1915879" cy="1915879"/>
          </a:xfrm>
          <a:custGeom>
            <a:avLst/>
            <a:gdLst/>
            <a:ahLst/>
            <a:cxnLst/>
            <a:rect r="r" b="b" t="t" l="l"/>
            <a:pathLst>
              <a:path h="1915879" w="1915879">
                <a:moveTo>
                  <a:pt x="0" y="0"/>
                </a:moveTo>
                <a:lnTo>
                  <a:pt x="1915879" y="0"/>
                </a:lnTo>
                <a:lnTo>
                  <a:pt x="1915879" y="1915879"/>
                </a:lnTo>
                <a:lnTo>
                  <a:pt x="0" y="19158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50548" y="-821643"/>
            <a:ext cx="1643285" cy="1643285"/>
          </a:xfrm>
          <a:custGeom>
            <a:avLst/>
            <a:gdLst/>
            <a:ahLst/>
            <a:cxnLst/>
            <a:rect r="r" b="b" t="t" l="l"/>
            <a:pathLst>
              <a:path h="1643285" w="1643285">
                <a:moveTo>
                  <a:pt x="0" y="0"/>
                </a:moveTo>
                <a:lnTo>
                  <a:pt x="1643285" y="0"/>
                </a:lnTo>
                <a:lnTo>
                  <a:pt x="1643285" y="1643286"/>
                </a:lnTo>
                <a:lnTo>
                  <a:pt x="0" y="16432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575395" y="1762667"/>
            <a:ext cx="1425210" cy="1425210"/>
          </a:xfrm>
          <a:custGeom>
            <a:avLst/>
            <a:gdLst/>
            <a:ahLst/>
            <a:cxnLst/>
            <a:rect r="r" b="b" t="t" l="l"/>
            <a:pathLst>
              <a:path h="1425210" w="1425210">
                <a:moveTo>
                  <a:pt x="0" y="0"/>
                </a:moveTo>
                <a:lnTo>
                  <a:pt x="1425210" y="0"/>
                </a:lnTo>
                <a:lnTo>
                  <a:pt x="1425210" y="1425210"/>
                </a:lnTo>
                <a:lnTo>
                  <a:pt x="0" y="14252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49012" y="7294661"/>
            <a:ext cx="5739950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6C3E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Requê</a:t>
            </a:r>
            <a:r>
              <a:rPr lang="en-US" b="true" sz="2799">
                <a:solidFill>
                  <a:srgbClr val="FF6C3E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te SPARQL générée / exécutée en console 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2345" y="3834141"/>
            <a:ext cx="4933057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FF6C3E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Traitement sémantique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200150"/>
            <a:ext cx="10733890" cy="92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55"/>
              </a:lnSpc>
              <a:spcBef>
                <a:spcPct val="0"/>
              </a:spcBef>
            </a:pPr>
            <a:r>
              <a:rPr lang="en-US" b="true" sz="7186" spc="-359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Exemples d’exécution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413896"/>
            <a:ext cx="9838101" cy="2415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861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Identification d</a:t>
            </a:r>
            <a:r>
              <a:rPr lang="en-US" sz="3399" strike="noStrike" u="none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e l’enti</a:t>
            </a:r>
            <a:r>
              <a:rPr lang="en-US" sz="3399" strike="noStrike" u="none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té</a:t>
            </a:r>
          </a:p>
          <a:p>
            <a:pPr algn="l" marL="734059" indent="-367030" lvl="1">
              <a:lnSpc>
                <a:spcPts val="4861"/>
              </a:lnSpc>
              <a:buFont typeface="Arial"/>
              <a:buChar char="•"/>
            </a:pPr>
            <a:r>
              <a:rPr lang="en-US" sz="3399" strike="noStrike" u="none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Correspondance avec les concepts de l’ontologie médicale</a:t>
            </a:r>
          </a:p>
          <a:p>
            <a:pPr algn="l" marL="734059" indent="-367030" lvl="1">
              <a:lnSpc>
                <a:spcPts val="4861"/>
              </a:lnSpc>
              <a:buFont typeface="Arial"/>
              <a:buChar char="•"/>
            </a:pPr>
            <a:r>
              <a:rPr lang="en-US" sz="3399" strike="noStrike" u="none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Génération automatique d’une requête SPARQL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889031" y="1575979"/>
            <a:ext cx="6398969" cy="8603656"/>
          </a:xfrm>
          <a:custGeom>
            <a:avLst/>
            <a:gdLst/>
            <a:ahLst/>
            <a:cxnLst/>
            <a:rect r="r" b="b" t="t" l="l"/>
            <a:pathLst>
              <a:path h="8603656" w="6398969">
                <a:moveTo>
                  <a:pt x="0" y="0"/>
                </a:moveTo>
                <a:lnTo>
                  <a:pt x="6398969" y="0"/>
                </a:lnTo>
                <a:lnTo>
                  <a:pt x="6398969" y="8603656"/>
                </a:lnTo>
                <a:lnTo>
                  <a:pt x="0" y="86036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1088574" y="3547071"/>
            <a:ext cx="6807628" cy="4100980"/>
          </a:xfrm>
          <a:custGeom>
            <a:avLst/>
            <a:gdLst/>
            <a:ahLst/>
            <a:cxnLst/>
            <a:rect r="r" b="b" t="t" l="l"/>
            <a:pathLst>
              <a:path h="4100980" w="6807628">
                <a:moveTo>
                  <a:pt x="0" y="0"/>
                </a:moveTo>
                <a:lnTo>
                  <a:pt x="6807627" y="0"/>
                </a:lnTo>
                <a:lnTo>
                  <a:pt x="6807627" y="4100981"/>
                </a:lnTo>
                <a:lnTo>
                  <a:pt x="0" y="410098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715C4">
                <a:alpha val="100000"/>
              </a:srgbClr>
            </a:gs>
            <a:gs pos="100000">
              <a:srgbClr val="1531C3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73107" y="2474121"/>
            <a:ext cx="8423622" cy="8423622"/>
            <a:chOff x="0" y="0"/>
            <a:chExt cx="558800" cy="55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B0A6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65100" y="155575"/>
              <a:ext cx="393700" cy="403225"/>
            </a:xfrm>
            <a:prstGeom prst="rect">
              <a:avLst/>
            </a:prstGeom>
          </p:spPr>
          <p:txBody>
            <a:bodyPr anchor="ctr" rtlCol="false" tIns="19765" lIns="19765" bIns="19765" rIns="19765"/>
            <a:lstStyle/>
            <a:p>
              <a:pPr algn="ctr">
                <a:lnSpc>
                  <a:spcPts val="762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762590" y="9409492"/>
            <a:ext cx="1915879" cy="1915879"/>
          </a:xfrm>
          <a:custGeom>
            <a:avLst/>
            <a:gdLst/>
            <a:ahLst/>
            <a:cxnLst/>
            <a:rect r="r" b="b" t="t" l="l"/>
            <a:pathLst>
              <a:path h="1915879" w="1915879">
                <a:moveTo>
                  <a:pt x="0" y="0"/>
                </a:moveTo>
                <a:lnTo>
                  <a:pt x="1915879" y="0"/>
                </a:lnTo>
                <a:lnTo>
                  <a:pt x="1915879" y="1915879"/>
                </a:lnTo>
                <a:lnTo>
                  <a:pt x="0" y="19158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50548" y="-821643"/>
            <a:ext cx="1643285" cy="1643285"/>
          </a:xfrm>
          <a:custGeom>
            <a:avLst/>
            <a:gdLst/>
            <a:ahLst/>
            <a:cxnLst/>
            <a:rect r="r" b="b" t="t" l="l"/>
            <a:pathLst>
              <a:path h="1643285" w="1643285">
                <a:moveTo>
                  <a:pt x="0" y="0"/>
                </a:moveTo>
                <a:lnTo>
                  <a:pt x="1643285" y="0"/>
                </a:lnTo>
                <a:lnTo>
                  <a:pt x="1643285" y="1643286"/>
                </a:lnTo>
                <a:lnTo>
                  <a:pt x="0" y="16432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575395" y="1762667"/>
            <a:ext cx="1425210" cy="1425210"/>
          </a:xfrm>
          <a:custGeom>
            <a:avLst/>
            <a:gdLst/>
            <a:ahLst/>
            <a:cxnLst/>
            <a:rect r="r" b="b" t="t" l="l"/>
            <a:pathLst>
              <a:path h="1425210" w="1425210">
                <a:moveTo>
                  <a:pt x="0" y="0"/>
                </a:moveTo>
                <a:lnTo>
                  <a:pt x="1425210" y="0"/>
                </a:lnTo>
                <a:lnTo>
                  <a:pt x="1425210" y="1425210"/>
                </a:lnTo>
                <a:lnTo>
                  <a:pt x="0" y="14252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49012" y="5971933"/>
            <a:ext cx="691898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6C3E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Résultat affiché en console 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2345" y="3834141"/>
            <a:ext cx="337443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FF6C3E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Résultat obtenu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200150"/>
            <a:ext cx="10733890" cy="92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55"/>
              </a:lnSpc>
              <a:spcBef>
                <a:spcPct val="0"/>
              </a:spcBef>
            </a:pPr>
            <a:r>
              <a:rPr lang="en-US" b="true" sz="7186" spc="-359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Exemples d’exécution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413896"/>
            <a:ext cx="9838101" cy="1196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861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Affichage du résultat de la requête SPARQL</a:t>
            </a:r>
          </a:p>
          <a:p>
            <a:pPr algn="l" marL="734059" indent="-367030" lvl="1">
              <a:lnSpc>
                <a:spcPts val="4861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Réponse extraite directement du graphe RDF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889031" y="1575979"/>
            <a:ext cx="6398969" cy="8603656"/>
          </a:xfrm>
          <a:custGeom>
            <a:avLst/>
            <a:gdLst/>
            <a:ahLst/>
            <a:cxnLst/>
            <a:rect r="r" b="b" t="t" l="l"/>
            <a:pathLst>
              <a:path h="8603656" w="6398969">
                <a:moveTo>
                  <a:pt x="0" y="0"/>
                </a:moveTo>
                <a:lnTo>
                  <a:pt x="6398969" y="0"/>
                </a:lnTo>
                <a:lnTo>
                  <a:pt x="6398969" y="8603656"/>
                </a:lnTo>
                <a:lnTo>
                  <a:pt x="0" y="86036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1762590" y="2819209"/>
            <a:ext cx="5333154" cy="5581547"/>
          </a:xfrm>
          <a:custGeom>
            <a:avLst/>
            <a:gdLst/>
            <a:ahLst/>
            <a:cxnLst/>
            <a:rect r="r" b="b" t="t" l="l"/>
            <a:pathLst>
              <a:path h="5581547" w="5333154">
                <a:moveTo>
                  <a:pt x="0" y="0"/>
                </a:moveTo>
                <a:lnTo>
                  <a:pt x="5333154" y="0"/>
                </a:lnTo>
                <a:lnTo>
                  <a:pt x="5333154" y="5581547"/>
                </a:lnTo>
                <a:lnTo>
                  <a:pt x="0" y="55815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3113" y="3653462"/>
            <a:ext cx="17441775" cy="5822913"/>
            <a:chOff x="0" y="0"/>
            <a:chExt cx="4593718" cy="15336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93718" cy="1533607"/>
            </a:xfrm>
            <a:custGeom>
              <a:avLst/>
              <a:gdLst/>
              <a:ahLst/>
              <a:cxnLst/>
              <a:rect r="r" b="b" t="t" l="l"/>
              <a:pathLst>
                <a:path h="1533607" w="4593718">
                  <a:moveTo>
                    <a:pt x="24857" y="0"/>
                  </a:moveTo>
                  <a:lnTo>
                    <a:pt x="4568861" y="0"/>
                  </a:lnTo>
                  <a:cubicBezTo>
                    <a:pt x="4575454" y="0"/>
                    <a:pt x="4581777" y="2619"/>
                    <a:pt x="4586438" y="7280"/>
                  </a:cubicBezTo>
                  <a:cubicBezTo>
                    <a:pt x="4591100" y="11942"/>
                    <a:pt x="4593718" y="18264"/>
                    <a:pt x="4593718" y="24857"/>
                  </a:cubicBezTo>
                  <a:lnTo>
                    <a:pt x="4593718" y="1508750"/>
                  </a:lnTo>
                  <a:cubicBezTo>
                    <a:pt x="4593718" y="1515342"/>
                    <a:pt x="4591100" y="1521665"/>
                    <a:pt x="4586438" y="1526326"/>
                  </a:cubicBezTo>
                  <a:cubicBezTo>
                    <a:pt x="4581777" y="1530988"/>
                    <a:pt x="4575454" y="1533607"/>
                    <a:pt x="4568861" y="1533607"/>
                  </a:cubicBezTo>
                  <a:lnTo>
                    <a:pt x="24857" y="1533607"/>
                  </a:lnTo>
                  <a:cubicBezTo>
                    <a:pt x="18264" y="1533607"/>
                    <a:pt x="11942" y="1530988"/>
                    <a:pt x="7280" y="1526326"/>
                  </a:cubicBezTo>
                  <a:cubicBezTo>
                    <a:pt x="2619" y="1521665"/>
                    <a:pt x="0" y="1515342"/>
                    <a:pt x="0" y="1508750"/>
                  </a:cubicBezTo>
                  <a:lnTo>
                    <a:pt x="0" y="24857"/>
                  </a:lnTo>
                  <a:cubicBezTo>
                    <a:pt x="0" y="18264"/>
                    <a:pt x="2619" y="11942"/>
                    <a:pt x="7280" y="7280"/>
                  </a:cubicBezTo>
                  <a:cubicBezTo>
                    <a:pt x="11942" y="2619"/>
                    <a:pt x="18264" y="0"/>
                    <a:pt x="2485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1B0A6B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593718" cy="1533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31834" y="3653462"/>
            <a:ext cx="3503157" cy="5822913"/>
            <a:chOff x="0" y="0"/>
            <a:chExt cx="922642" cy="15336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2642" cy="1533607"/>
            </a:xfrm>
            <a:custGeom>
              <a:avLst/>
              <a:gdLst/>
              <a:ahLst/>
              <a:cxnLst/>
              <a:rect r="r" b="b" t="t" l="l"/>
              <a:pathLst>
                <a:path h="1533607" w="922642">
                  <a:moveTo>
                    <a:pt x="123759" y="0"/>
                  </a:moveTo>
                  <a:lnTo>
                    <a:pt x="798883" y="0"/>
                  </a:lnTo>
                  <a:cubicBezTo>
                    <a:pt x="831706" y="0"/>
                    <a:pt x="863185" y="13039"/>
                    <a:pt x="886394" y="36248"/>
                  </a:cubicBezTo>
                  <a:cubicBezTo>
                    <a:pt x="909603" y="59458"/>
                    <a:pt x="922642" y="90936"/>
                    <a:pt x="922642" y="123759"/>
                  </a:cubicBezTo>
                  <a:lnTo>
                    <a:pt x="922642" y="1409848"/>
                  </a:lnTo>
                  <a:cubicBezTo>
                    <a:pt x="922642" y="1478198"/>
                    <a:pt x="867233" y="1533607"/>
                    <a:pt x="798883" y="1533607"/>
                  </a:cubicBezTo>
                  <a:lnTo>
                    <a:pt x="123759" y="1533607"/>
                  </a:lnTo>
                  <a:cubicBezTo>
                    <a:pt x="55409" y="1533607"/>
                    <a:pt x="0" y="1478198"/>
                    <a:pt x="0" y="1409848"/>
                  </a:cubicBezTo>
                  <a:lnTo>
                    <a:pt x="0" y="123759"/>
                  </a:lnTo>
                  <a:cubicBezTo>
                    <a:pt x="0" y="55409"/>
                    <a:pt x="55409" y="0"/>
                    <a:pt x="12375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715C4">
                    <a:alpha val="100000"/>
                  </a:srgbClr>
                </a:gs>
                <a:gs pos="100000">
                  <a:srgbClr val="1531C3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9050" cap="rnd">
              <a:solidFill>
                <a:srgbClr val="1B0A6B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922642" cy="1533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352713" y="4437548"/>
            <a:ext cx="4035634" cy="2127371"/>
            <a:chOff x="0" y="0"/>
            <a:chExt cx="1806085" cy="9520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06085" cy="952072"/>
            </a:xfrm>
            <a:custGeom>
              <a:avLst/>
              <a:gdLst/>
              <a:ahLst/>
              <a:cxnLst/>
              <a:rect r="r" b="b" t="t" l="l"/>
              <a:pathLst>
                <a:path h="952072" w="1806085">
                  <a:moveTo>
                    <a:pt x="15827" y="0"/>
                  </a:moveTo>
                  <a:lnTo>
                    <a:pt x="1566304" y="0"/>
                  </a:lnTo>
                  <a:cubicBezTo>
                    <a:pt x="1711154" y="0"/>
                    <a:pt x="1806085" y="213129"/>
                    <a:pt x="1806085" y="476036"/>
                  </a:cubicBezTo>
                  <a:cubicBezTo>
                    <a:pt x="1806085" y="738943"/>
                    <a:pt x="1711154" y="952072"/>
                    <a:pt x="1566304" y="952072"/>
                  </a:cubicBezTo>
                  <a:lnTo>
                    <a:pt x="15827" y="952072"/>
                  </a:lnTo>
                  <a:cubicBezTo>
                    <a:pt x="11629" y="952072"/>
                    <a:pt x="7604" y="950404"/>
                    <a:pt x="4636" y="947436"/>
                  </a:cubicBezTo>
                  <a:cubicBezTo>
                    <a:pt x="1667" y="944468"/>
                    <a:pt x="0" y="940443"/>
                    <a:pt x="0" y="936245"/>
                  </a:cubicBezTo>
                  <a:lnTo>
                    <a:pt x="0" y="15827"/>
                  </a:lnTo>
                  <a:cubicBezTo>
                    <a:pt x="0" y="11629"/>
                    <a:pt x="1667" y="7604"/>
                    <a:pt x="4636" y="4636"/>
                  </a:cubicBezTo>
                  <a:cubicBezTo>
                    <a:pt x="7604" y="1667"/>
                    <a:pt x="11629" y="0"/>
                    <a:pt x="15827" y="0"/>
                  </a:cubicBezTo>
                  <a:close/>
                </a:path>
              </a:pathLst>
            </a:custGeom>
            <a:solidFill>
              <a:srgbClr val="1B0A6B"/>
            </a:solidFill>
            <a:ln w="19050" cap="sq">
              <a:solidFill>
                <a:srgbClr val="1B0A6B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25400" y="-19050"/>
              <a:ext cx="1577485" cy="971122"/>
            </a:xfrm>
            <a:prstGeom prst="rect">
              <a:avLst/>
            </a:prstGeom>
          </p:spPr>
          <p:txBody>
            <a:bodyPr anchor="ctr" rtlCol="false" tIns="41847" lIns="41847" bIns="41847" rIns="41847"/>
            <a:lstStyle/>
            <a:p>
              <a:pPr algn="ctr">
                <a:lnSpc>
                  <a:spcPts val="161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765392" y="4437548"/>
            <a:ext cx="4208439" cy="2127371"/>
            <a:chOff x="0" y="0"/>
            <a:chExt cx="1883422" cy="952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83422" cy="952072"/>
            </a:xfrm>
            <a:custGeom>
              <a:avLst/>
              <a:gdLst/>
              <a:ahLst/>
              <a:cxnLst/>
              <a:rect r="r" b="b" t="t" l="l"/>
              <a:pathLst>
                <a:path h="952072" w="1883422">
                  <a:moveTo>
                    <a:pt x="15177" y="0"/>
                  </a:moveTo>
                  <a:lnTo>
                    <a:pt x="1641847" y="0"/>
                  </a:lnTo>
                  <a:cubicBezTo>
                    <a:pt x="1788491" y="0"/>
                    <a:pt x="1883422" y="213129"/>
                    <a:pt x="1883422" y="476036"/>
                  </a:cubicBezTo>
                  <a:cubicBezTo>
                    <a:pt x="1883422" y="738943"/>
                    <a:pt x="1788491" y="952072"/>
                    <a:pt x="1641847" y="952072"/>
                  </a:cubicBezTo>
                  <a:lnTo>
                    <a:pt x="15177" y="952072"/>
                  </a:lnTo>
                  <a:cubicBezTo>
                    <a:pt x="11152" y="952072"/>
                    <a:pt x="7291" y="950473"/>
                    <a:pt x="4445" y="947627"/>
                  </a:cubicBezTo>
                  <a:cubicBezTo>
                    <a:pt x="1599" y="944781"/>
                    <a:pt x="0" y="940920"/>
                    <a:pt x="0" y="936895"/>
                  </a:cubicBezTo>
                  <a:lnTo>
                    <a:pt x="0" y="15177"/>
                  </a:lnTo>
                  <a:cubicBezTo>
                    <a:pt x="0" y="11152"/>
                    <a:pt x="1599" y="7291"/>
                    <a:pt x="4445" y="4445"/>
                  </a:cubicBezTo>
                  <a:cubicBezTo>
                    <a:pt x="7291" y="1599"/>
                    <a:pt x="11152" y="0"/>
                    <a:pt x="15177" y="0"/>
                  </a:cubicBezTo>
                  <a:close/>
                </a:path>
              </a:pathLst>
            </a:custGeom>
            <a:solidFill>
              <a:srgbClr val="1B0A6B"/>
            </a:solidFill>
            <a:ln w="19050" cap="sq">
              <a:solidFill>
                <a:srgbClr val="1B0A6B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25400" y="-19050"/>
              <a:ext cx="1654822" cy="971122"/>
            </a:xfrm>
            <a:prstGeom prst="rect">
              <a:avLst/>
            </a:prstGeom>
          </p:spPr>
          <p:txBody>
            <a:bodyPr anchor="ctr" rtlCol="false" tIns="41847" lIns="41847" bIns="41847" rIns="41847"/>
            <a:lstStyle/>
            <a:p>
              <a:pPr algn="ctr">
                <a:lnSpc>
                  <a:spcPts val="1614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350877" y="4437548"/>
            <a:ext cx="4226285" cy="2127371"/>
            <a:chOff x="0" y="0"/>
            <a:chExt cx="1891409" cy="9520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91409" cy="952072"/>
            </a:xfrm>
            <a:custGeom>
              <a:avLst/>
              <a:gdLst/>
              <a:ahLst/>
              <a:cxnLst/>
              <a:rect r="r" b="b" t="t" l="l"/>
              <a:pathLst>
                <a:path h="952072" w="1891409">
                  <a:moveTo>
                    <a:pt x="15113" y="0"/>
                  </a:moveTo>
                  <a:lnTo>
                    <a:pt x="1649648" y="0"/>
                  </a:lnTo>
                  <a:cubicBezTo>
                    <a:pt x="1796477" y="0"/>
                    <a:pt x="1891409" y="213129"/>
                    <a:pt x="1891409" y="476036"/>
                  </a:cubicBezTo>
                  <a:cubicBezTo>
                    <a:pt x="1891409" y="738943"/>
                    <a:pt x="1796477" y="952072"/>
                    <a:pt x="1649648" y="952072"/>
                  </a:cubicBezTo>
                  <a:lnTo>
                    <a:pt x="15113" y="952072"/>
                  </a:lnTo>
                  <a:cubicBezTo>
                    <a:pt x="11105" y="952072"/>
                    <a:pt x="7261" y="950480"/>
                    <a:pt x="4426" y="947646"/>
                  </a:cubicBezTo>
                  <a:cubicBezTo>
                    <a:pt x="1592" y="944811"/>
                    <a:pt x="0" y="940967"/>
                    <a:pt x="0" y="936959"/>
                  </a:cubicBezTo>
                  <a:lnTo>
                    <a:pt x="0" y="15113"/>
                  </a:lnTo>
                  <a:cubicBezTo>
                    <a:pt x="0" y="11105"/>
                    <a:pt x="1592" y="7261"/>
                    <a:pt x="4426" y="4426"/>
                  </a:cubicBezTo>
                  <a:cubicBezTo>
                    <a:pt x="7261" y="1592"/>
                    <a:pt x="11105" y="0"/>
                    <a:pt x="15113" y="0"/>
                  </a:cubicBezTo>
                  <a:close/>
                </a:path>
              </a:pathLst>
            </a:custGeom>
            <a:solidFill>
              <a:srgbClr val="1B0A6B"/>
            </a:solidFill>
            <a:ln w="19050" cap="sq">
              <a:solidFill>
                <a:srgbClr val="1B0A6B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25400" y="-19050"/>
              <a:ext cx="1662809" cy="971122"/>
            </a:xfrm>
            <a:prstGeom prst="rect">
              <a:avLst/>
            </a:prstGeom>
          </p:spPr>
          <p:txBody>
            <a:bodyPr anchor="ctr" rtlCol="false" tIns="41847" lIns="41847" bIns="41847" rIns="41847"/>
            <a:lstStyle/>
            <a:p>
              <a:pPr algn="ctr">
                <a:lnSpc>
                  <a:spcPts val="1614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23113" y="-428545"/>
            <a:ext cx="17441775" cy="3582528"/>
            <a:chOff x="0" y="0"/>
            <a:chExt cx="4593718" cy="94354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93718" cy="943547"/>
            </a:xfrm>
            <a:custGeom>
              <a:avLst/>
              <a:gdLst/>
              <a:ahLst/>
              <a:cxnLst/>
              <a:rect r="r" b="b" t="t" l="l"/>
              <a:pathLst>
                <a:path h="943547" w="4593718">
                  <a:moveTo>
                    <a:pt x="24857" y="0"/>
                  </a:moveTo>
                  <a:lnTo>
                    <a:pt x="4568861" y="0"/>
                  </a:lnTo>
                  <a:cubicBezTo>
                    <a:pt x="4575454" y="0"/>
                    <a:pt x="4581777" y="2619"/>
                    <a:pt x="4586438" y="7280"/>
                  </a:cubicBezTo>
                  <a:cubicBezTo>
                    <a:pt x="4591100" y="11942"/>
                    <a:pt x="4593718" y="18264"/>
                    <a:pt x="4593718" y="24857"/>
                  </a:cubicBezTo>
                  <a:lnTo>
                    <a:pt x="4593718" y="918690"/>
                  </a:lnTo>
                  <a:cubicBezTo>
                    <a:pt x="4593718" y="925282"/>
                    <a:pt x="4591100" y="931605"/>
                    <a:pt x="4586438" y="936266"/>
                  </a:cubicBezTo>
                  <a:cubicBezTo>
                    <a:pt x="4581777" y="940928"/>
                    <a:pt x="4575454" y="943547"/>
                    <a:pt x="4568861" y="943547"/>
                  </a:cubicBezTo>
                  <a:lnTo>
                    <a:pt x="24857" y="943547"/>
                  </a:lnTo>
                  <a:cubicBezTo>
                    <a:pt x="18264" y="943547"/>
                    <a:pt x="11942" y="940928"/>
                    <a:pt x="7280" y="936266"/>
                  </a:cubicBezTo>
                  <a:cubicBezTo>
                    <a:pt x="2619" y="931605"/>
                    <a:pt x="0" y="925282"/>
                    <a:pt x="0" y="918690"/>
                  </a:cubicBezTo>
                  <a:lnTo>
                    <a:pt x="0" y="24857"/>
                  </a:lnTo>
                  <a:cubicBezTo>
                    <a:pt x="0" y="18264"/>
                    <a:pt x="2619" y="11942"/>
                    <a:pt x="7280" y="7280"/>
                  </a:cubicBezTo>
                  <a:cubicBezTo>
                    <a:pt x="11942" y="2619"/>
                    <a:pt x="18264" y="0"/>
                    <a:pt x="2485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715C4">
                    <a:alpha val="100000"/>
                  </a:srgbClr>
                </a:gs>
                <a:gs pos="100000">
                  <a:srgbClr val="1531C3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9050" cap="rnd">
              <a:solidFill>
                <a:srgbClr val="1B0A6B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4593718" cy="943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2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-10800000">
            <a:off x="1096881" y="5364013"/>
            <a:ext cx="175161" cy="203380"/>
          </a:xfrm>
          <a:custGeom>
            <a:avLst/>
            <a:gdLst/>
            <a:ahLst/>
            <a:cxnLst/>
            <a:rect r="r" b="b" t="t" l="l"/>
            <a:pathLst>
              <a:path h="203380" w="175161">
                <a:moveTo>
                  <a:pt x="0" y="0"/>
                </a:moveTo>
                <a:lnTo>
                  <a:pt x="175161" y="0"/>
                </a:lnTo>
                <a:lnTo>
                  <a:pt x="175161" y="203380"/>
                </a:lnTo>
                <a:lnTo>
                  <a:pt x="0" y="203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-10800000">
            <a:off x="1096881" y="7072437"/>
            <a:ext cx="175161" cy="203380"/>
          </a:xfrm>
          <a:custGeom>
            <a:avLst/>
            <a:gdLst/>
            <a:ahLst/>
            <a:cxnLst/>
            <a:rect r="r" b="b" t="t" l="l"/>
            <a:pathLst>
              <a:path h="203380" w="175161">
                <a:moveTo>
                  <a:pt x="0" y="0"/>
                </a:moveTo>
                <a:lnTo>
                  <a:pt x="175161" y="0"/>
                </a:lnTo>
                <a:lnTo>
                  <a:pt x="175161" y="203379"/>
                </a:lnTo>
                <a:lnTo>
                  <a:pt x="0" y="203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2600758" y="3335600"/>
            <a:ext cx="635723" cy="635723"/>
          </a:xfrm>
          <a:custGeom>
            <a:avLst/>
            <a:gdLst/>
            <a:ahLst/>
            <a:cxnLst/>
            <a:rect r="r" b="b" t="t" l="l"/>
            <a:pathLst>
              <a:path h="635723" w="635723">
                <a:moveTo>
                  <a:pt x="0" y="0"/>
                </a:moveTo>
                <a:lnTo>
                  <a:pt x="635723" y="0"/>
                </a:lnTo>
                <a:lnTo>
                  <a:pt x="635723" y="635724"/>
                </a:lnTo>
                <a:lnTo>
                  <a:pt x="0" y="6357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6941438" y="726996"/>
            <a:ext cx="635723" cy="635723"/>
          </a:xfrm>
          <a:custGeom>
            <a:avLst/>
            <a:gdLst/>
            <a:ahLst/>
            <a:cxnLst/>
            <a:rect r="r" b="b" t="t" l="l"/>
            <a:pathLst>
              <a:path h="635723" w="635723">
                <a:moveTo>
                  <a:pt x="0" y="0"/>
                </a:moveTo>
                <a:lnTo>
                  <a:pt x="635724" y="0"/>
                </a:lnTo>
                <a:lnTo>
                  <a:pt x="635724" y="635723"/>
                </a:lnTo>
                <a:lnTo>
                  <a:pt x="0" y="6357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5400000">
            <a:off x="13062654" y="9047936"/>
            <a:ext cx="576445" cy="856878"/>
          </a:xfrm>
          <a:custGeom>
            <a:avLst/>
            <a:gdLst/>
            <a:ahLst/>
            <a:cxnLst/>
            <a:rect r="r" b="b" t="t" l="l"/>
            <a:pathLst>
              <a:path h="856878" w="576445">
                <a:moveTo>
                  <a:pt x="0" y="0"/>
                </a:moveTo>
                <a:lnTo>
                  <a:pt x="576445" y="0"/>
                </a:lnTo>
                <a:lnTo>
                  <a:pt x="576445" y="856878"/>
                </a:lnTo>
                <a:lnTo>
                  <a:pt x="0" y="8568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5400000">
            <a:off x="134890" y="600261"/>
            <a:ext cx="576445" cy="856878"/>
          </a:xfrm>
          <a:custGeom>
            <a:avLst/>
            <a:gdLst/>
            <a:ahLst/>
            <a:cxnLst/>
            <a:rect r="r" b="b" t="t" l="l"/>
            <a:pathLst>
              <a:path h="856878" w="576445">
                <a:moveTo>
                  <a:pt x="0" y="0"/>
                </a:moveTo>
                <a:lnTo>
                  <a:pt x="576445" y="0"/>
                </a:lnTo>
                <a:lnTo>
                  <a:pt x="576445" y="856878"/>
                </a:lnTo>
                <a:lnTo>
                  <a:pt x="0" y="8568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365105" y="5139918"/>
            <a:ext cx="1587432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Limites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65105" y="6812811"/>
            <a:ext cx="233671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Amélior</a:t>
            </a:r>
            <a:r>
              <a:rPr lang="en-US" b="true" sz="3000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ations futures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942129" y="4727498"/>
            <a:ext cx="2856800" cy="166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7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NLP </a:t>
            </a:r>
            <a:r>
              <a:rPr lang="en-US" b="true" sz="3399" strike="noStrike" u="non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si</a:t>
            </a:r>
            <a:r>
              <a:rPr lang="en-US" b="true" sz="3399" strike="noStrike" u="non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mple :</a:t>
            </a:r>
          </a:p>
          <a:p>
            <a:pPr algn="ctr" marL="0" indent="0" lvl="0">
              <a:lnSpc>
                <a:spcPts val="3297"/>
              </a:lnSpc>
              <a:spcBef>
                <a:spcPct val="0"/>
              </a:spcBef>
            </a:pPr>
          </a:p>
          <a:p>
            <a:pPr algn="ctr">
              <a:lnSpc>
                <a:spcPts val="3297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Analyse basée sur mots-clés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879292" y="4727498"/>
            <a:ext cx="3807834" cy="166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7"/>
              </a:lnSpc>
            </a:pPr>
            <a:r>
              <a:rPr lang="en-US" sz="3399" b="tru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Interface</a:t>
            </a:r>
            <a:r>
              <a:rPr lang="en-US" b="true" sz="3399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 console :</a:t>
            </a:r>
          </a:p>
          <a:p>
            <a:pPr algn="ctr" marL="0" indent="0" lvl="0">
              <a:lnSpc>
                <a:spcPts val="3297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Interaction uniquement en ligne de commande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551236" y="4727498"/>
            <a:ext cx="3647972" cy="166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7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Domai</a:t>
            </a:r>
            <a:r>
              <a:rPr lang="en-US" b="true" sz="3399" strike="noStrike" u="non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ne</a:t>
            </a:r>
            <a:r>
              <a:rPr lang="en-US" b="true" sz="3399" strike="noStrike" u="non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 </a:t>
            </a:r>
            <a:r>
              <a:rPr lang="en-US" b="true" sz="3399" strike="noStrike" u="non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</a:t>
            </a:r>
            <a:r>
              <a:rPr lang="en-US" b="true" sz="3399" strike="noStrike" u="non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</a:t>
            </a:r>
            <a:r>
              <a:rPr lang="en-US" b="true" sz="3399" strike="noStrike" u="non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</a:t>
            </a:r>
            <a:r>
              <a:rPr lang="en-US" b="true" sz="3399" strike="noStrike" u="non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tr</a:t>
            </a:r>
            <a:r>
              <a:rPr lang="en-US" b="true" sz="3399" strike="noStrike" u="non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</a:t>
            </a:r>
            <a:r>
              <a:rPr lang="en-US" b="true" sz="3399" strike="noStrike" u="none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int :</a:t>
            </a:r>
          </a:p>
          <a:p>
            <a:pPr algn="ctr" marL="0" indent="0" lvl="0">
              <a:lnSpc>
                <a:spcPts val="3297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297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FFFFFF"/>
                </a:solidFill>
                <a:latin typeface="TT Chocolates"/>
                <a:ea typeface="TT Chocolates"/>
                <a:cs typeface="TT Chocolates"/>
                <a:sym typeface="TT Chocolates"/>
              </a:rPr>
              <a:t>Ontologie limitée au secteur médical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540015" y="6802762"/>
            <a:ext cx="3661028" cy="166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7"/>
              </a:lnSpc>
            </a:pPr>
            <a:r>
              <a:rPr lang="en-US" b="true" sz="3399">
                <a:solidFill>
                  <a:srgbClr val="1B0A6B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NLP</a:t>
            </a:r>
            <a:r>
              <a:rPr lang="en-US" b="true" sz="3399" strike="noStrike" u="none">
                <a:solidFill>
                  <a:srgbClr val="1B0A6B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 a</a:t>
            </a:r>
            <a:r>
              <a:rPr lang="en-US" b="true" sz="3399" strike="noStrike" u="none">
                <a:solidFill>
                  <a:srgbClr val="1B0A6B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v</a:t>
            </a:r>
            <a:r>
              <a:rPr lang="en-US" b="true" sz="3399" strike="noStrike" u="none">
                <a:solidFill>
                  <a:srgbClr val="1B0A6B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an</a:t>
            </a:r>
            <a:r>
              <a:rPr lang="en-US" b="true" sz="3399" strike="noStrike" u="none">
                <a:solidFill>
                  <a:srgbClr val="1B0A6B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cé :</a:t>
            </a:r>
          </a:p>
          <a:p>
            <a:pPr algn="ctr" marL="0" indent="0" lvl="0">
              <a:lnSpc>
                <a:spcPts val="3297"/>
              </a:lnSpc>
            </a:pP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Amélioration de la compréhension du langage naturel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952695" y="6830822"/>
            <a:ext cx="3661028" cy="166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7"/>
              </a:lnSpc>
              <a:spcBef>
                <a:spcPct val="0"/>
              </a:spcBef>
            </a:pPr>
            <a:r>
              <a:rPr lang="en-US" b="true" sz="3399">
                <a:solidFill>
                  <a:srgbClr val="1B0A6B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In</a:t>
            </a:r>
            <a:r>
              <a:rPr lang="en-US" b="true" sz="3399" strike="noStrike" u="none">
                <a:solidFill>
                  <a:srgbClr val="1B0A6B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</a:t>
            </a:r>
            <a:r>
              <a:rPr lang="en-US" b="true" sz="3399" strike="noStrike" u="none">
                <a:solidFill>
                  <a:srgbClr val="1B0A6B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erf</a:t>
            </a:r>
            <a:r>
              <a:rPr lang="en-US" b="true" sz="3399" strike="noStrike" u="none">
                <a:solidFill>
                  <a:srgbClr val="1B0A6B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a</a:t>
            </a:r>
            <a:r>
              <a:rPr lang="en-US" b="true" sz="3399" strike="noStrike" u="none">
                <a:solidFill>
                  <a:srgbClr val="1B0A6B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</a:t>
            </a:r>
            <a:r>
              <a:rPr lang="en-US" b="true" sz="3399" strike="noStrike" u="none">
                <a:solidFill>
                  <a:srgbClr val="1B0A6B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</a:t>
            </a:r>
            <a:r>
              <a:rPr lang="en-US" b="true" sz="3399" strike="noStrike" u="none">
                <a:solidFill>
                  <a:srgbClr val="1B0A6B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 web :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 A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ccès via u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n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e 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a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pp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lic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ation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web interactive.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538179" y="6830822"/>
            <a:ext cx="3661028" cy="2070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7"/>
              </a:lnSpc>
              <a:spcBef>
                <a:spcPct val="0"/>
              </a:spcBef>
            </a:pPr>
            <a:r>
              <a:rPr lang="en-US" b="true" sz="3399">
                <a:solidFill>
                  <a:srgbClr val="1B0A6B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Ex</a:t>
            </a:r>
            <a:r>
              <a:rPr lang="en-US" b="true" sz="3399" strike="noStrike" u="none">
                <a:solidFill>
                  <a:srgbClr val="1B0A6B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</a:t>
            </a:r>
            <a:r>
              <a:rPr lang="en-US" b="true" sz="3399" strike="noStrike" u="none">
                <a:solidFill>
                  <a:srgbClr val="1B0A6B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ensi</a:t>
            </a:r>
            <a:r>
              <a:rPr lang="en-US" b="true" sz="3399" strike="noStrike" u="none">
                <a:solidFill>
                  <a:srgbClr val="1B0A6B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</a:t>
            </a:r>
            <a:r>
              <a:rPr lang="en-US" b="true" sz="3399" strike="noStrike" u="none">
                <a:solidFill>
                  <a:srgbClr val="1B0A6B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n de</a:t>
            </a:r>
            <a:r>
              <a:rPr lang="en-US" b="true" sz="3399" strike="noStrike" u="none">
                <a:solidFill>
                  <a:srgbClr val="1B0A6B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 </a:t>
            </a:r>
            <a:r>
              <a:rPr lang="en-US" b="true" sz="3399" strike="noStrike" u="none">
                <a:solidFill>
                  <a:srgbClr val="1B0A6B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l’o</a:t>
            </a:r>
            <a:r>
              <a:rPr lang="en-US" b="true" sz="3399" strike="noStrike" u="none">
                <a:solidFill>
                  <a:srgbClr val="1B0A6B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nt</a:t>
            </a:r>
            <a:r>
              <a:rPr lang="en-US" b="true" sz="3399" strike="noStrike" u="none">
                <a:solidFill>
                  <a:srgbClr val="1B0A6B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olo</a:t>
            </a:r>
            <a:r>
              <a:rPr lang="en-US" b="true" sz="3399" strike="noStrike" u="none">
                <a:solidFill>
                  <a:srgbClr val="1B0A6B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g</a:t>
            </a:r>
            <a:r>
              <a:rPr lang="en-US" b="true" sz="3399" strike="noStrike" u="none">
                <a:solidFill>
                  <a:srgbClr val="1B0A6B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ie :</a:t>
            </a:r>
          </a:p>
          <a:p>
            <a:pPr algn="ctr" marL="0" indent="0" lvl="0">
              <a:lnSpc>
                <a:spcPts val="3297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 En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r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ich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i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sseme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n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t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des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c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o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ncepts e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t </a:t>
            </a:r>
            <a:r>
              <a:rPr lang="en-US" sz="3399" strike="noStrike" u="none">
                <a:solidFill>
                  <a:srgbClr val="1B0A6B"/>
                </a:solidFill>
                <a:latin typeface="TT Chocolates"/>
                <a:ea typeface="TT Chocolates"/>
                <a:cs typeface="TT Chocolates"/>
                <a:sym typeface="TT Chocolates"/>
              </a:rPr>
              <a:t>relations.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324308" y="1200150"/>
            <a:ext cx="13639385" cy="923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55"/>
              </a:lnSpc>
              <a:spcBef>
                <a:spcPct val="0"/>
              </a:spcBef>
            </a:pPr>
            <a:r>
              <a:rPr lang="en-US" b="true" sz="7186" spc="-359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Limites &amp; Amélio</a:t>
            </a:r>
            <a:r>
              <a:rPr lang="en-US" b="true" sz="7186" spc="-359" strike="noStrike" u="none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r</a:t>
            </a:r>
            <a:r>
              <a:rPr lang="en-US" b="true" sz="7186" spc="-359" strike="noStrike" u="none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at</a:t>
            </a:r>
            <a:r>
              <a:rPr lang="en-US" b="true" sz="7186" spc="-359" strike="noStrike" u="none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i</a:t>
            </a:r>
            <a:r>
              <a:rPr lang="en-US" b="true" sz="7186" spc="-359" strike="noStrike" u="none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o</a:t>
            </a:r>
            <a:r>
              <a:rPr lang="en-US" b="true" sz="7186" spc="-359" strike="noStrike" u="none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n</a:t>
            </a:r>
            <a:r>
              <a:rPr lang="en-US" b="true" sz="7186" spc="-359" strike="noStrike" u="none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s</a:t>
            </a:r>
            <a:r>
              <a:rPr lang="en-US" b="true" sz="7186" spc="-359" strike="noStrike" u="none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 </a:t>
            </a:r>
            <a:r>
              <a:rPr lang="en-US" b="true" sz="7186" spc="-359" strike="noStrike" u="none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f</a:t>
            </a:r>
            <a:r>
              <a:rPr lang="en-US" b="true" sz="7186" spc="-359" strike="noStrike" u="none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utures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2652" y="-7971699"/>
            <a:ext cx="14702695" cy="1470269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715C4">
                    <a:alpha val="100000"/>
                  </a:srgbClr>
                </a:gs>
                <a:gs pos="100000">
                  <a:srgbClr val="1531C3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9050" cap="sq">
              <a:solidFill>
                <a:srgbClr val="1B0A6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762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686054" y="3280387"/>
            <a:ext cx="2925253" cy="3617188"/>
          </a:xfrm>
          <a:custGeom>
            <a:avLst/>
            <a:gdLst/>
            <a:ahLst/>
            <a:cxnLst/>
            <a:rect r="r" b="b" t="t" l="l"/>
            <a:pathLst>
              <a:path h="3617188" w="2925253">
                <a:moveTo>
                  <a:pt x="0" y="0"/>
                </a:moveTo>
                <a:lnTo>
                  <a:pt x="2925253" y="0"/>
                </a:lnTo>
                <a:lnTo>
                  <a:pt x="2925253" y="3617188"/>
                </a:lnTo>
                <a:lnTo>
                  <a:pt x="0" y="3617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01191" y="3445639"/>
            <a:ext cx="2663443" cy="3167481"/>
          </a:xfrm>
          <a:custGeom>
            <a:avLst/>
            <a:gdLst/>
            <a:ahLst/>
            <a:cxnLst/>
            <a:rect r="r" b="b" t="t" l="l"/>
            <a:pathLst>
              <a:path h="3167481" w="2663443">
                <a:moveTo>
                  <a:pt x="0" y="0"/>
                </a:moveTo>
                <a:lnTo>
                  <a:pt x="2663443" y="0"/>
                </a:lnTo>
                <a:lnTo>
                  <a:pt x="2663443" y="3167482"/>
                </a:lnTo>
                <a:lnTo>
                  <a:pt x="0" y="3167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true" flipV="false" rot="-277344">
            <a:off x="5288936" y="3427671"/>
            <a:ext cx="2353184" cy="2995378"/>
          </a:xfrm>
          <a:custGeom>
            <a:avLst/>
            <a:gdLst/>
            <a:ahLst/>
            <a:cxnLst/>
            <a:rect r="r" b="b" t="t" l="l"/>
            <a:pathLst>
              <a:path h="2995378" w="2353184">
                <a:moveTo>
                  <a:pt x="2353184" y="0"/>
                </a:moveTo>
                <a:lnTo>
                  <a:pt x="0" y="0"/>
                </a:lnTo>
                <a:lnTo>
                  <a:pt x="0" y="2995378"/>
                </a:lnTo>
                <a:lnTo>
                  <a:pt x="2353184" y="2995378"/>
                </a:lnTo>
                <a:lnTo>
                  <a:pt x="235318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4500173" y="1200150"/>
            <a:ext cx="9287654" cy="9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55"/>
              </a:lnSpc>
              <a:spcBef>
                <a:spcPct val="0"/>
              </a:spcBef>
            </a:pPr>
            <a:r>
              <a:rPr lang="en-US" b="true" sz="7186" spc="-359" strike="noStrike" u="none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Co</a:t>
            </a:r>
            <a:r>
              <a:rPr lang="en-US" b="true" sz="7186" spc="-359" strike="noStrike" u="none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ncl</a:t>
            </a:r>
            <a:r>
              <a:rPr lang="en-US" b="true" sz="7186" spc="-359" strike="noStrike" u="none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u</a:t>
            </a:r>
            <a:r>
              <a:rPr lang="en-US" b="true" sz="7186" spc="-359" strike="noStrike" u="none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si</a:t>
            </a:r>
            <a:r>
              <a:rPr lang="en-US" b="true" sz="7186" spc="-359" strike="noStrike" u="none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o</a:t>
            </a:r>
            <a:r>
              <a:rPr lang="en-US" b="true" sz="7186" spc="-359" strike="noStrike" u="none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02831" y="8097725"/>
            <a:ext cx="10682337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50"/>
              </a:lnSpc>
            </a:pPr>
            <a:r>
              <a:rPr lang="en-US" b="true" sz="5000">
                <a:solidFill>
                  <a:srgbClr val="1B0A6B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Merci pour votre attention.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784822" y="1388716"/>
            <a:ext cx="852195" cy="852195"/>
          </a:xfrm>
          <a:custGeom>
            <a:avLst/>
            <a:gdLst/>
            <a:ahLst/>
            <a:cxnLst/>
            <a:rect r="r" b="b" t="t" l="l"/>
            <a:pathLst>
              <a:path h="852195" w="852195">
                <a:moveTo>
                  <a:pt x="0" y="0"/>
                </a:moveTo>
                <a:lnTo>
                  <a:pt x="852195" y="0"/>
                </a:lnTo>
                <a:lnTo>
                  <a:pt x="852195" y="852195"/>
                </a:lnTo>
                <a:lnTo>
                  <a:pt x="0" y="8521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21218" y="8960705"/>
            <a:ext cx="595191" cy="595191"/>
          </a:xfrm>
          <a:custGeom>
            <a:avLst/>
            <a:gdLst/>
            <a:ahLst/>
            <a:cxnLst/>
            <a:rect r="r" b="b" t="t" l="l"/>
            <a:pathLst>
              <a:path h="595191" w="595191">
                <a:moveTo>
                  <a:pt x="0" y="0"/>
                </a:moveTo>
                <a:lnTo>
                  <a:pt x="595191" y="0"/>
                </a:lnTo>
                <a:lnTo>
                  <a:pt x="595191" y="595190"/>
                </a:lnTo>
                <a:lnTo>
                  <a:pt x="0" y="5951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360611" y="4542271"/>
            <a:ext cx="1854778" cy="1854778"/>
          </a:xfrm>
          <a:custGeom>
            <a:avLst/>
            <a:gdLst/>
            <a:ahLst/>
            <a:cxnLst/>
            <a:rect r="r" b="b" t="t" l="l"/>
            <a:pathLst>
              <a:path h="1854778" w="1854778">
                <a:moveTo>
                  <a:pt x="0" y="0"/>
                </a:moveTo>
                <a:lnTo>
                  <a:pt x="1854778" y="0"/>
                </a:lnTo>
                <a:lnTo>
                  <a:pt x="1854778" y="1854778"/>
                </a:lnTo>
                <a:lnTo>
                  <a:pt x="0" y="18547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928901" y="4542271"/>
            <a:ext cx="1854778" cy="1854778"/>
          </a:xfrm>
          <a:custGeom>
            <a:avLst/>
            <a:gdLst/>
            <a:ahLst/>
            <a:cxnLst/>
            <a:rect r="r" b="b" t="t" l="l"/>
            <a:pathLst>
              <a:path h="1854778" w="1854778">
                <a:moveTo>
                  <a:pt x="0" y="0"/>
                </a:moveTo>
                <a:lnTo>
                  <a:pt x="1854778" y="0"/>
                </a:lnTo>
                <a:lnTo>
                  <a:pt x="1854778" y="1854778"/>
                </a:lnTo>
                <a:lnTo>
                  <a:pt x="0" y="18547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28700" y="4038136"/>
            <a:ext cx="2877751" cy="1431524"/>
          </a:xfrm>
          <a:custGeom>
            <a:avLst/>
            <a:gdLst/>
            <a:ahLst/>
            <a:cxnLst/>
            <a:rect r="r" b="b" t="t" l="l"/>
            <a:pathLst>
              <a:path h="1431524" w="2877751">
                <a:moveTo>
                  <a:pt x="0" y="0"/>
                </a:moveTo>
                <a:lnTo>
                  <a:pt x="2877751" y="0"/>
                </a:lnTo>
                <a:lnTo>
                  <a:pt x="2877751" y="1431524"/>
                </a:lnTo>
                <a:lnTo>
                  <a:pt x="0" y="14315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42572" r="0" b="-58454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114849" y="3591491"/>
            <a:ext cx="1901560" cy="1901560"/>
          </a:xfrm>
          <a:custGeom>
            <a:avLst/>
            <a:gdLst/>
            <a:ahLst/>
            <a:cxnLst/>
            <a:rect r="r" b="b" t="t" l="l"/>
            <a:pathLst>
              <a:path h="1901560" w="1901560">
                <a:moveTo>
                  <a:pt x="0" y="0"/>
                </a:moveTo>
                <a:lnTo>
                  <a:pt x="1901560" y="0"/>
                </a:lnTo>
                <a:lnTo>
                  <a:pt x="1901560" y="1901560"/>
                </a:lnTo>
                <a:lnTo>
                  <a:pt x="0" y="190156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DAG9veNrw6U</dc:identifier>
  <dcterms:modified xsi:type="dcterms:W3CDTF">2011-08-01T06:04:30Z</dcterms:modified>
  <cp:revision>1</cp:revision>
  <dc:title>Présentation du projet Chatbot NLP</dc:title>
</cp:coreProperties>
</file>